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5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y="6858000" cx="9144000"/>
  <p:notesSz cx="6858000" cy="9144000"/>
  <p:embeddedFontLst>
    <p:embeddedFont>
      <p:font typeface="Helvetica Neue"/>
      <p:regular r:id="rId43"/>
      <p:bold r:id="rId44"/>
      <p:italic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7" roundtripDataSignature="AMtx7mgrlQZLzqgPIKhBu/9oFrVPax6wp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22" Type="http://schemas.openxmlformats.org/officeDocument/2006/relationships/slide" Target="slides/slide16.xml"/><Relationship Id="rId44" Type="http://schemas.openxmlformats.org/officeDocument/2006/relationships/font" Target="fonts/HelveticaNeue-bold.fntdata"/><Relationship Id="rId21" Type="http://schemas.openxmlformats.org/officeDocument/2006/relationships/slide" Target="slides/slide15.xml"/><Relationship Id="rId43" Type="http://schemas.openxmlformats.org/officeDocument/2006/relationships/font" Target="fonts/HelveticaNeue-regular.fntdata"/><Relationship Id="rId24" Type="http://schemas.openxmlformats.org/officeDocument/2006/relationships/slide" Target="slides/slide18.xml"/><Relationship Id="rId46" Type="http://schemas.openxmlformats.org/officeDocument/2006/relationships/font" Target="fonts/HelveticaNeue-boldItalic.fntdata"/><Relationship Id="rId23" Type="http://schemas.openxmlformats.org/officeDocument/2006/relationships/slide" Target="slides/slide17.xml"/><Relationship Id="rId45" Type="http://schemas.openxmlformats.org/officeDocument/2006/relationships/font" Target="fonts/HelveticaNeue-italic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47" Type="http://customschemas.google.com/relationships/presentationmetadata" Target="meta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8"/>
          <p:cNvSpPr txBox="1"/>
          <p:nvPr>
            <p:ph type="ctrTitle"/>
          </p:nvPr>
        </p:nvSpPr>
        <p:spPr>
          <a:xfrm>
            <a:off x="2057400" y="1143000"/>
            <a:ext cx="6629400" cy="22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8"/>
          <p:cNvSpPr txBox="1"/>
          <p:nvPr>
            <p:ph idx="1" type="subTitle"/>
          </p:nvPr>
        </p:nvSpPr>
        <p:spPr>
          <a:xfrm>
            <a:off x="1371600" y="3962400"/>
            <a:ext cx="68580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560"/>
              </a:spcBef>
              <a:spcAft>
                <a:spcPts val="0"/>
              </a:spcAft>
              <a:buSzPts val="2520"/>
              <a:buFont typeface="Noto Sans Symbols"/>
              <a:buNone/>
              <a:defRPr/>
            </a:lvl1pPr>
            <a:lvl2pPr lvl="1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27" name="Google Shape;27;p38"/>
          <p:cNvSpPr txBox="1"/>
          <p:nvPr>
            <p:ph idx="10" type="dt"/>
          </p:nvPr>
        </p:nvSpPr>
        <p:spPr>
          <a:xfrm>
            <a:off x="912812" y="6251575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8"/>
          <p:cNvSpPr txBox="1"/>
          <p:nvPr>
            <p:ph idx="11" type="ftr"/>
          </p:nvPr>
        </p:nvSpPr>
        <p:spPr>
          <a:xfrm>
            <a:off x="3354387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8"/>
          <p:cNvSpPr txBox="1"/>
          <p:nvPr>
            <p:ph idx="12" type="sldNum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0"/>
          <p:cNvSpPr txBox="1"/>
          <p:nvPr>
            <p:ph type="title"/>
          </p:nvPr>
        </p:nvSpPr>
        <p:spPr>
          <a:xfrm>
            <a:off x="914400" y="277812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40"/>
          <p:cNvSpPr txBox="1"/>
          <p:nvPr>
            <p:ph idx="1" type="body"/>
          </p:nvPr>
        </p:nvSpPr>
        <p:spPr>
          <a:xfrm>
            <a:off x="914400" y="1600200"/>
            <a:ext cx="77724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1470" lvl="0" marL="457200" algn="l">
              <a:spcBef>
                <a:spcPts val="360"/>
              </a:spcBef>
              <a:spcAft>
                <a:spcPts val="0"/>
              </a:spcAft>
              <a:buSzPts val="1620"/>
              <a:buChar char="■"/>
              <a:defRPr/>
            </a:lvl1pPr>
            <a:lvl2pPr indent="-314325" lvl="1" marL="9144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2pPr>
            <a:lvl3pPr indent="-291464" lvl="2" marL="13716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45" name="Google Shape;45;p40"/>
          <p:cNvSpPr txBox="1"/>
          <p:nvPr>
            <p:ph idx="10" type="dt"/>
          </p:nvPr>
        </p:nvSpPr>
        <p:spPr>
          <a:xfrm>
            <a:off x="914400" y="6251575"/>
            <a:ext cx="198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40"/>
          <p:cNvSpPr txBox="1"/>
          <p:nvPr>
            <p:ph idx="11" type="ftr"/>
          </p:nvPr>
        </p:nvSpPr>
        <p:spPr>
          <a:xfrm>
            <a:off x="3352800" y="62484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0"/>
          <p:cNvSpPr txBox="1"/>
          <p:nvPr>
            <p:ph idx="12" type="sldNum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1"/>
          <p:cNvSpPr txBox="1"/>
          <p:nvPr>
            <p:ph type="title"/>
          </p:nvPr>
        </p:nvSpPr>
        <p:spPr>
          <a:xfrm>
            <a:off x="914400" y="277812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41"/>
          <p:cNvSpPr txBox="1"/>
          <p:nvPr>
            <p:ph idx="10" type="dt"/>
          </p:nvPr>
        </p:nvSpPr>
        <p:spPr>
          <a:xfrm>
            <a:off x="914400" y="6251575"/>
            <a:ext cx="198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1"/>
          <p:cNvSpPr txBox="1"/>
          <p:nvPr>
            <p:ph idx="11" type="ftr"/>
          </p:nvPr>
        </p:nvSpPr>
        <p:spPr>
          <a:xfrm>
            <a:off x="3352800" y="62484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1"/>
          <p:cNvSpPr txBox="1"/>
          <p:nvPr>
            <p:ph idx="12" type="sldNum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2"/>
          <p:cNvSpPr txBox="1"/>
          <p:nvPr>
            <p:ph type="title"/>
          </p:nvPr>
        </p:nvSpPr>
        <p:spPr>
          <a:xfrm rot="5400000">
            <a:off x="4788694" y="2232819"/>
            <a:ext cx="5853112" cy="19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42"/>
          <p:cNvSpPr txBox="1"/>
          <p:nvPr>
            <p:ph idx="1" type="body"/>
          </p:nvPr>
        </p:nvSpPr>
        <p:spPr>
          <a:xfrm rot="5400000">
            <a:off x="826294" y="365919"/>
            <a:ext cx="5853112" cy="56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1470" lvl="0" marL="457200" algn="l">
              <a:spcBef>
                <a:spcPts val="360"/>
              </a:spcBef>
              <a:spcAft>
                <a:spcPts val="0"/>
              </a:spcAft>
              <a:buSzPts val="1620"/>
              <a:buChar char="■"/>
              <a:defRPr/>
            </a:lvl1pPr>
            <a:lvl2pPr indent="-314325" lvl="1" marL="9144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2pPr>
            <a:lvl3pPr indent="-291464" lvl="2" marL="13716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56" name="Google Shape;56;p42"/>
          <p:cNvSpPr txBox="1"/>
          <p:nvPr>
            <p:ph idx="10" type="dt"/>
          </p:nvPr>
        </p:nvSpPr>
        <p:spPr>
          <a:xfrm>
            <a:off x="914400" y="6251575"/>
            <a:ext cx="198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42"/>
          <p:cNvSpPr txBox="1"/>
          <p:nvPr>
            <p:ph idx="11" type="ftr"/>
          </p:nvPr>
        </p:nvSpPr>
        <p:spPr>
          <a:xfrm>
            <a:off x="3352800" y="62484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42"/>
          <p:cNvSpPr txBox="1"/>
          <p:nvPr>
            <p:ph idx="12" type="sldNum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3"/>
          <p:cNvSpPr txBox="1"/>
          <p:nvPr>
            <p:ph type="title"/>
          </p:nvPr>
        </p:nvSpPr>
        <p:spPr>
          <a:xfrm>
            <a:off x="914400" y="277812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43"/>
          <p:cNvSpPr txBox="1"/>
          <p:nvPr>
            <p:ph idx="1" type="body"/>
          </p:nvPr>
        </p:nvSpPr>
        <p:spPr>
          <a:xfrm rot="5400000">
            <a:off x="2535238" y="-20637"/>
            <a:ext cx="4530725" cy="77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1470" lvl="0" marL="457200" algn="l">
              <a:spcBef>
                <a:spcPts val="360"/>
              </a:spcBef>
              <a:spcAft>
                <a:spcPts val="0"/>
              </a:spcAft>
              <a:buSzPts val="1620"/>
              <a:buChar char="■"/>
              <a:defRPr/>
            </a:lvl1pPr>
            <a:lvl2pPr indent="-314325" lvl="1" marL="9144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2pPr>
            <a:lvl3pPr indent="-291464" lvl="2" marL="13716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62" name="Google Shape;62;p43"/>
          <p:cNvSpPr txBox="1"/>
          <p:nvPr>
            <p:ph idx="10" type="dt"/>
          </p:nvPr>
        </p:nvSpPr>
        <p:spPr>
          <a:xfrm>
            <a:off x="914400" y="6251575"/>
            <a:ext cx="198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3"/>
          <p:cNvSpPr txBox="1"/>
          <p:nvPr>
            <p:ph idx="11" type="ftr"/>
          </p:nvPr>
        </p:nvSpPr>
        <p:spPr>
          <a:xfrm>
            <a:off x="3352800" y="62484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43"/>
          <p:cNvSpPr txBox="1"/>
          <p:nvPr>
            <p:ph idx="12" type="sldNum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4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4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44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126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9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55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44"/>
          <p:cNvSpPr txBox="1"/>
          <p:nvPr>
            <p:ph idx="10" type="dt"/>
          </p:nvPr>
        </p:nvSpPr>
        <p:spPr>
          <a:xfrm>
            <a:off x="914400" y="6251575"/>
            <a:ext cx="198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4"/>
          <p:cNvSpPr txBox="1"/>
          <p:nvPr>
            <p:ph idx="11" type="ftr"/>
          </p:nvPr>
        </p:nvSpPr>
        <p:spPr>
          <a:xfrm>
            <a:off x="3352800" y="62484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44"/>
          <p:cNvSpPr txBox="1"/>
          <p:nvPr>
            <p:ph idx="12" type="sldNum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5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45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11480" lvl="0" marL="457200" algn="l">
              <a:spcBef>
                <a:spcPts val="640"/>
              </a:spcBef>
              <a:spcAft>
                <a:spcPts val="0"/>
              </a:spcAft>
              <a:buSzPts val="2880"/>
              <a:buChar char="■"/>
              <a:defRPr sz="3200"/>
            </a:lvl1pPr>
            <a:lvl2pPr indent="-361950" lvl="1" marL="914400" algn="l">
              <a:spcBef>
                <a:spcPts val="560"/>
              </a:spcBef>
              <a:spcAft>
                <a:spcPts val="0"/>
              </a:spcAft>
              <a:buSzPts val="2100"/>
              <a:buChar char="■"/>
              <a:defRPr sz="2800"/>
            </a:lvl2pPr>
            <a:lvl3pPr indent="-312419" lvl="2" marL="1371600" algn="l">
              <a:spcBef>
                <a:spcPts val="480"/>
              </a:spcBef>
              <a:spcAft>
                <a:spcPts val="0"/>
              </a:spcAft>
              <a:buSzPts val="1320"/>
              <a:buChar char="■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9pPr>
          </a:lstStyle>
          <a:p/>
        </p:txBody>
      </p:sp>
      <p:sp>
        <p:nvSpPr>
          <p:cNvPr id="75" name="Google Shape;75;p45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126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9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55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76" name="Google Shape;76;p45"/>
          <p:cNvSpPr txBox="1"/>
          <p:nvPr>
            <p:ph idx="10" type="dt"/>
          </p:nvPr>
        </p:nvSpPr>
        <p:spPr>
          <a:xfrm>
            <a:off x="914400" y="6251575"/>
            <a:ext cx="198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45"/>
          <p:cNvSpPr txBox="1"/>
          <p:nvPr>
            <p:ph idx="11" type="ftr"/>
          </p:nvPr>
        </p:nvSpPr>
        <p:spPr>
          <a:xfrm>
            <a:off x="3352800" y="62484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5"/>
          <p:cNvSpPr txBox="1"/>
          <p:nvPr>
            <p:ph idx="12" type="sldNum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6"/>
          <p:cNvSpPr txBox="1"/>
          <p:nvPr>
            <p:ph idx="10" type="dt"/>
          </p:nvPr>
        </p:nvSpPr>
        <p:spPr>
          <a:xfrm>
            <a:off x="914400" y="6251575"/>
            <a:ext cx="198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46"/>
          <p:cNvSpPr txBox="1"/>
          <p:nvPr>
            <p:ph idx="11" type="ftr"/>
          </p:nvPr>
        </p:nvSpPr>
        <p:spPr>
          <a:xfrm>
            <a:off x="3352800" y="62484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46"/>
          <p:cNvSpPr txBox="1"/>
          <p:nvPr>
            <p:ph idx="12" type="sldNum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4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16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5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99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86" name="Google Shape;86;p4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5760" lvl="0" marL="457200" algn="l">
              <a:spcBef>
                <a:spcPts val="480"/>
              </a:spcBef>
              <a:spcAft>
                <a:spcPts val="0"/>
              </a:spcAft>
              <a:buSzPts val="2160"/>
              <a:buChar char="■"/>
              <a:defRPr sz="2400"/>
            </a:lvl1pPr>
            <a:lvl2pPr indent="-323850" lvl="1" marL="914400" algn="l">
              <a:spcBef>
                <a:spcPts val="400"/>
              </a:spcBef>
              <a:spcAft>
                <a:spcPts val="0"/>
              </a:spcAft>
              <a:buSzPts val="1500"/>
              <a:buChar char="■"/>
              <a:defRPr sz="2000"/>
            </a:lvl2pPr>
            <a:lvl3pPr indent="-291464" lvl="2" marL="13716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9pPr>
          </a:lstStyle>
          <a:p/>
        </p:txBody>
      </p:sp>
      <p:sp>
        <p:nvSpPr>
          <p:cNvPr id="87" name="Google Shape;87;p4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16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5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99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88" name="Google Shape;88;p4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5760" lvl="0" marL="457200" algn="l">
              <a:spcBef>
                <a:spcPts val="480"/>
              </a:spcBef>
              <a:spcAft>
                <a:spcPts val="0"/>
              </a:spcAft>
              <a:buSzPts val="2160"/>
              <a:buChar char="■"/>
              <a:defRPr sz="2400"/>
            </a:lvl1pPr>
            <a:lvl2pPr indent="-323850" lvl="1" marL="914400" algn="l">
              <a:spcBef>
                <a:spcPts val="400"/>
              </a:spcBef>
              <a:spcAft>
                <a:spcPts val="0"/>
              </a:spcAft>
              <a:buSzPts val="1500"/>
              <a:buChar char="■"/>
              <a:defRPr sz="2000"/>
            </a:lvl2pPr>
            <a:lvl3pPr indent="-291464" lvl="2" marL="13716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9pPr>
          </a:lstStyle>
          <a:p/>
        </p:txBody>
      </p:sp>
      <p:sp>
        <p:nvSpPr>
          <p:cNvPr id="89" name="Google Shape;89;p47"/>
          <p:cNvSpPr txBox="1"/>
          <p:nvPr>
            <p:ph idx="10" type="dt"/>
          </p:nvPr>
        </p:nvSpPr>
        <p:spPr>
          <a:xfrm>
            <a:off x="914400" y="6251575"/>
            <a:ext cx="198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47"/>
          <p:cNvSpPr txBox="1"/>
          <p:nvPr>
            <p:ph idx="11" type="ftr"/>
          </p:nvPr>
        </p:nvSpPr>
        <p:spPr>
          <a:xfrm>
            <a:off x="3352800" y="62484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47"/>
          <p:cNvSpPr txBox="1"/>
          <p:nvPr>
            <p:ph idx="12" type="sldNum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8"/>
          <p:cNvSpPr txBox="1"/>
          <p:nvPr>
            <p:ph type="title"/>
          </p:nvPr>
        </p:nvSpPr>
        <p:spPr>
          <a:xfrm>
            <a:off x="914400" y="277812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48"/>
          <p:cNvSpPr txBox="1"/>
          <p:nvPr>
            <p:ph idx="1" type="body"/>
          </p:nvPr>
        </p:nvSpPr>
        <p:spPr>
          <a:xfrm>
            <a:off x="914400" y="1600200"/>
            <a:ext cx="38100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8620" lvl="0" marL="457200" algn="l">
              <a:spcBef>
                <a:spcPts val="560"/>
              </a:spcBef>
              <a:spcAft>
                <a:spcPts val="0"/>
              </a:spcAft>
              <a:buSzPts val="2520"/>
              <a:buChar char="■"/>
              <a:defRPr sz="2800"/>
            </a:lvl1pPr>
            <a:lvl2pPr indent="-342900" lvl="1" marL="914400" algn="l">
              <a:spcBef>
                <a:spcPts val="480"/>
              </a:spcBef>
              <a:spcAft>
                <a:spcPts val="0"/>
              </a:spcAft>
              <a:buSzPts val="1800"/>
              <a:buChar char="■"/>
              <a:defRPr sz="2400"/>
            </a:lvl2pPr>
            <a:lvl3pPr indent="-298450" lvl="2" marL="1371600" algn="l"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9pPr>
          </a:lstStyle>
          <a:p/>
        </p:txBody>
      </p:sp>
      <p:sp>
        <p:nvSpPr>
          <p:cNvPr id="95" name="Google Shape;95;p48"/>
          <p:cNvSpPr txBox="1"/>
          <p:nvPr>
            <p:ph idx="2" type="body"/>
          </p:nvPr>
        </p:nvSpPr>
        <p:spPr>
          <a:xfrm>
            <a:off x="4876800" y="1600200"/>
            <a:ext cx="38100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8620" lvl="0" marL="457200" algn="l">
              <a:spcBef>
                <a:spcPts val="560"/>
              </a:spcBef>
              <a:spcAft>
                <a:spcPts val="0"/>
              </a:spcAft>
              <a:buSzPts val="2520"/>
              <a:buChar char="■"/>
              <a:defRPr sz="2800"/>
            </a:lvl1pPr>
            <a:lvl2pPr indent="-342900" lvl="1" marL="914400" algn="l">
              <a:spcBef>
                <a:spcPts val="480"/>
              </a:spcBef>
              <a:spcAft>
                <a:spcPts val="0"/>
              </a:spcAft>
              <a:buSzPts val="1800"/>
              <a:buChar char="■"/>
              <a:defRPr sz="2400"/>
            </a:lvl2pPr>
            <a:lvl3pPr indent="-298450" lvl="2" marL="1371600" algn="l"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9pPr>
          </a:lstStyle>
          <a:p/>
        </p:txBody>
      </p:sp>
      <p:sp>
        <p:nvSpPr>
          <p:cNvPr id="96" name="Google Shape;96;p48"/>
          <p:cNvSpPr txBox="1"/>
          <p:nvPr>
            <p:ph idx="10" type="dt"/>
          </p:nvPr>
        </p:nvSpPr>
        <p:spPr>
          <a:xfrm>
            <a:off x="914400" y="6251575"/>
            <a:ext cx="198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48"/>
          <p:cNvSpPr txBox="1"/>
          <p:nvPr>
            <p:ph idx="11" type="ftr"/>
          </p:nvPr>
        </p:nvSpPr>
        <p:spPr>
          <a:xfrm>
            <a:off x="3352800" y="62484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48"/>
          <p:cNvSpPr txBox="1"/>
          <p:nvPr>
            <p:ph idx="12" type="sldNum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9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49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1800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1350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880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02" name="Google Shape;102;p49"/>
          <p:cNvSpPr txBox="1"/>
          <p:nvPr>
            <p:ph idx="10" type="dt"/>
          </p:nvPr>
        </p:nvSpPr>
        <p:spPr>
          <a:xfrm>
            <a:off x="914400" y="6251575"/>
            <a:ext cx="198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49"/>
          <p:cNvSpPr txBox="1"/>
          <p:nvPr>
            <p:ph idx="11" type="ftr"/>
          </p:nvPr>
        </p:nvSpPr>
        <p:spPr>
          <a:xfrm>
            <a:off x="3352800" y="62484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49"/>
          <p:cNvSpPr txBox="1"/>
          <p:nvPr>
            <p:ph idx="12" type="sldNum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0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37"/>
          <p:cNvGrpSpPr/>
          <p:nvPr/>
        </p:nvGrpSpPr>
        <p:grpSpPr>
          <a:xfrm>
            <a:off x="0" y="0"/>
            <a:ext cx="8763000" cy="5943600"/>
            <a:chOff x="0" y="0"/>
            <a:chExt cx="5520" cy="3744"/>
          </a:xfrm>
        </p:grpSpPr>
        <p:sp>
          <p:nvSpPr>
            <p:cNvPr id="11" name="Google Shape;11;p37"/>
            <p:cNvSpPr txBox="1"/>
            <p:nvPr/>
          </p:nvSpPr>
          <p:spPr>
            <a:xfrm>
              <a:off x="0" y="0"/>
              <a:ext cx="1104" cy="307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" name="Google Shape;12;p37"/>
            <p:cNvGrpSpPr/>
            <p:nvPr/>
          </p:nvGrpSpPr>
          <p:grpSpPr>
            <a:xfrm>
              <a:off x="0" y="2208"/>
              <a:ext cx="5520" cy="1536"/>
              <a:chOff x="0" y="2208"/>
              <a:chExt cx="5520" cy="1536"/>
            </a:xfrm>
          </p:grpSpPr>
          <p:sp>
            <p:nvSpPr>
              <p:cNvPr id="13" name="Google Shape;13;p37"/>
              <p:cNvSpPr txBox="1"/>
              <p:nvPr/>
            </p:nvSpPr>
            <p:spPr>
              <a:xfrm>
                <a:off x="624" y="2208"/>
                <a:ext cx="4896" cy="1536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" name="Google Shape;14;p37"/>
              <p:cNvSpPr txBox="1"/>
              <p:nvPr/>
            </p:nvSpPr>
            <p:spPr>
              <a:xfrm>
                <a:off x="654" y="2352"/>
                <a:ext cx="4818" cy="1347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5" name="Google Shape;15;p37"/>
              <p:cNvCxnSpPr/>
              <p:nvPr/>
            </p:nvCxnSpPr>
            <p:spPr>
              <a:xfrm>
                <a:off x="0" y="3072"/>
                <a:ext cx="624" cy="0"/>
              </a:xfrm>
              <a:prstGeom prst="straightConnector1">
                <a:avLst/>
              </a:prstGeom>
              <a:noFill/>
              <a:ln cap="flat" cmpd="sng" w="50800">
                <a:solidFill>
                  <a:schemeClr val="lt2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</p:grpSp>
        <p:grpSp>
          <p:nvGrpSpPr>
            <p:cNvPr id="16" name="Google Shape;16;p37"/>
            <p:cNvGrpSpPr/>
            <p:nvPr/>
          </p:nvGrpSpPr>
          <p:grpSpPr>
            <a:xfrm>
              <a:off x="400" y="336"/>
              <a:ext cx="5088" cy="192"/>
              <a:chOff x="400" y="336"/>
              <a:chExt cx="5088" cy="192"/>
            </a:xfrm>
          </p:grpSpPr>
          <p:sp>
            <p:nvSpPr>
              <p:cNvPr id="17" name="Google Shape;17;p37"/>
              <p:cNvSpPr txBox="1"/>
              <p:nvPr/>
            </p:nvSpPr>
            <p:spPr>
              <a:xfrm>
                <a:off x="3952" y="336"/>
                <a:ext cx="1536" cy="19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8" name="Google Shape;18;p37"/>
              <p:cNvCxnSpPr/>
              <p:nvPr/>
            </p:nvCxnSpPr>
            <p:spPr>
              <a:xfrm>
                <a:off x="400" y="432"/>
                <a:ext cx="5088" cy="0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2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</p:grpSp>
      </p:grpSp>
      <p:sp>
        <p:nvSpPr>
          <p:cNvPr id="19" name="Google Shape;19;p37"/>
          <p:cNvSpPr txBox="1"/>
          <p:nvPr>
            <p:ph type="title"/>
          </p:nvPr>
        </p:nvSpPr>
        <p:spPr>
          <a:xfrm>
            <a:off x="914400" y="277812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0" name="Google Shape;20;p37"/>
          <p:cNvSpPr txBox="1"/>
          <p:nvPr>
            <p:ph idx="1" type="body"/>
          </p:nvPr>
        </p:nvSpPr>
        <p:spPr>
          <a:xfrm>
            <a:off x="914400" y="1600200"/>
            <a:ext cx="77724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862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252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2425" lvl="1" marL="914400" marR="0" rtl="0" algn="l"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  <a:defRPr b="0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8927" lvl="2" marL="1371600" marR="0" rtl="0" algn="l">
              <a:spcBef>
                <a:spcPts val="460"/>
              </a:spcBef>
              <a:spcAft>
                <a:spcPts val="0"/>
              </a:spcAft>
              <a:buClr>
                <a:schemeClr val="folHlink"/>
              </a:buClr>
              <a:buSzPts val="1265"/>
              <a:buFont typeface="Noto Sans Symbols"/>
              <a:buChar char="■"/>
              <a:defRPr b="0" i="0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37"/>
          <p:cNvSpPr txBox="1"/>
          <p:nvPr>
            <p:ph idx="10" type="dt"/>
          </p:nvPr>
        </p:nvSpPr>
        <p:spPr>
          <a:xfrm>
            <a:off x="912812" y="6251575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37"/>
          <p:cNvSpPr txBox="1"/>
          <p:nvPr>
            <p:ph idx="11" type="ftr"/>
          </p:nvPr>
        </p:nvSpPr>
        <p:spPr>
          <a:xfrm>
            <a:off x="3354387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" name="Google Shape;23;p37"/>
          <p:cNvSpPr txBox="1"/>
          <p:nvPr>
            <p:ph idx="12" type="sldNum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oogle Shape;31;p39"/>
          <p:cNvGrpSpPr/>
          <p:nvPr/>
        </p:nvGrpSpPr>
        <p:grpSpPr>
          <a:xfrm>
            <a:off x="0" y="0"/>
            <a:ext cx="8686800" cy="4876800"/>
            <a:chOff x="0" y="0"/>
            <a:chExt cx="5472" cy="3072"/>
          </a:xfrm>
        </p:grpSpPr>
        <p:sp>
          <p:nvSpPr>
            <p:cNvPr id="32" name="Google Shape;32;p39"/>
            <p:cNvSpPr txBox="1"/>
            <p:nvPr/>
          </p:nvSpPr>
          <p:spPr>
            <a:xfrm>
              <a:off x="0" y="0"/>
              <a:ext cx="384" cy="307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3" name="Google Shape;33;p39"/>
            <p:cNvGrpSpPr/>
            <p:nvPr/>
          </p:nvGrpSpPr>
          <p:grpSpPr>
            <a:xfrm>
              <a:off x="240" y="893"/>
              <a:ext cx="5232" cy="115"/>
              <a:chOff x="240" y="893"/>
              <a:chExt cx="5232" cy="115"/>
            </a:xfrm>
          </p:grpSpPr>
          <p:sp>
            <p:nvSpPr>
              <p:cNvPr id="34" name="Google Shape;34;p39"/>
              <p:cNvSpPr txBox="1"/>
              <p:nvPr/>
            </p:nvSpPr>
            <p:spPr>
              <a:xfrm>
                <a:off x="4320" y="893"/>
                <a:ext cx="1152" cy="11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5" name="Google Shape;35;p39"/>
              <p:cNvCxnSpPr/>
              <p:nvPr/>
            </p:nvCxnSpPr>
            <p:spPr>
              <a:xfrm>
                <a:off x="240" y="941"/>
                <a:ext cx="5232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lt2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</p:grpSp>
      </p:grpSp>
      <p:sp>
        <p:nvSpPr>
          <p:cNvPr id="36" name="Google Shape;36;p39"/>
          <p:cNvSpPr txBox="1"/>
          <p:nvPr>
            <p:ph type="title"/>
          </p:nvPr>
        </p:nvSpPr>
        <p:spPr>
          <a:xfrm>
            <a:off x="914400" y="277812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37" name="Google Shape;37;p39"/>
          <p:cNvSpPr txBox="1"/>
          <p:nvPr>
            <p:ph idx="1" type="body"/>
          </p:nvPr>
        </p:nvSpPr>
        <p:spPr>
          <a:xfrm>
            <a:off x="914400" y="1600200"/>
            <a:ext cx="77724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862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252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2425" lvl="1" marL="914400" marR="0" rtl="0" algn="l"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  <a:defRPr b="0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8927" lvl="2" marL="1371600" marR="0" rtl="0" algn="l">
              <a:spcBef>
                <a:spcPts val="460"/>
              </a:spcBef>
              <a:spcAft>
                <a:spcPts val="0"/>
              </a:spcAft>
              <a:buClr>
                <a:schemeClr val="folHlink"/>
              </a:buClr>
              <a:buSzPts val="1265"/>
              <a:buFont typeface="Noto Sans Symbols"/>
              <a:buChar char="■"/>
              <a:defRPr b="0" i="0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" name="Google Shape;38;p39"/>
          <p:cNvSpPr txBox="1"/>
          <p:nvPr>
            <p:ph idx="10" type="dt"/>
          </p:nvPr>
        </p:nvSpPr>
        <p:spPr>
          <a:xfrm>
            <a:off x="914400" y="6251575"/>
            <a:ext cx="198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" name="Google Shape;39;p39"/>
          <p:cNvSpPr txBox="1"/>
          <p:nvPr>
            <p:ph idx="11" type="ftr"/>
          </p:nvPr>
        </p:nvSpPr>
        <p:spPr>
          <a:xfrm>
            <a:off x="3352800" y="62484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" name="Google Shape;40;p39"/>
          <p:cNvSpPr txBox="1"/>
          <p:nvPr>
            <p:ph idx="12" type="sldNum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  <p:cxnSp>
        <p:nvCxnSpPr>
          <p:cNvPr id="41" name="Google Shape;41;p39"/>
          <p:cNvCxnSpPr/>
          <p:nvPr/>
        </p:nvCxnSpPr>
        <p:spPr>
          <a:xfrm>
            <a:off x="0" y="4876800"/>
            <a:ext cx="609600" cy="0"/>
          </a:xfrm>
          <a:prstGeom prst="straightConnector1">
            <a:avLst/>
          </a:prstGeom>
          <a:noFill/>
          <a:ln cap="flat" cmpd="sng" w="44450">
            <a:solidFill>
              <a:schemeClr val="lt2"/>
            </a:solidFill>
            <a:prstDash val="solid"/>
            <a:miter lim="800000"/>
            <a:headEnd len="med" w="med" type="none"/>
            <a:tailEnd len="med" w="med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hyperlink" Target="http://../../OOPSemI0708/NotaKuliahOOPSemI0708/GradedActivity.java" TargetMode="External"/><Relationship Id="rId4" Type="http://schemas.openxmlformats.org/officeDocument/2006/relationships/hyperlink" Target="http://../../OOPSemI0708/NotaKuliahOOPSemI0708/GradeDemo.java" TargetMode="External"/><Relationship Id="rId5" Type="http://schemas.openxmlformats.org/officeDocument/2006/relationships/hyperlink" Target="http://../../OOPSemI0708/NotaKuliahOOPSemI0708/FinalExam.java" TargetMode="External"/><Relationship Id="rId6" Type="http://schemas.openxmlformats.org/officeDocument/2006/relationships/hyperlink" Target="http://../../OOPSemI0708/NotaKuliahOOPSemI0708/FinalExamDemo.java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://../../OOPSemII0708/LectureNotes/SuperClass1.java" TargetMode="External"/><Relationship Id="rId4" Type="http://schemas.openxmlformats.org/officeDocument/2006/relationships/hyperlink" Target="http://../../OOPSemII0708/LectureNotes/SubClass1.java" TargetMode="External"/><Relationship Id="rId5" Type="http://schemas.openxmlformats.org/officeDocument/2006/relationships/hyperlink" Target="http://../../OOPSemII0708/LectureNotes/ConstructorDemo1.java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10" name="Google Shape;110;p1"/>
          <p:cNvSpPr txBox="1"/>
          <p:nvPr>
            <p:ph type="ctrTitle"/>
          </p:nvPr>
        </p:nvSpPr>
        <p:spPr>
          <a:xfrm>
            <a:off x="2057400" y="1454150"/>
            <a:ext cx="6629400" cy="17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Times New Roman"/>
              <a:buNone/>
            </a:pPr>
            <a:r>
              <a:rPr b="0" i="0" lang="en-US" sz="4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Inheritance</a:t>
            </a:r>
            <a:endParaRPr/>
          </a:p>
        </p:txBody>
      </p:sp>
      <p:sp>
        <p:nvSpPr>
          <p:cNvPr id="111" name="Google Shape;111;p1"/>
          <p:cNvSpPr txBox="1"/>
          <p:nvPr>
            <p:ph idx="1" type="subTitle"/>
          </p:nvPr>
        </p:nvSpPr>
        <p:spPr>
          <a:xfrm>
            <a:off x="1371600" y="3962400"/>
            <a:ext cx="68580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0" i="0" lang="en-US" sz="4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Lecture 20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Based on Slides of Dr. Norazah Yusof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17" name="Google Shape;117;p2"/>
          <p:cNvSpPr txBox="1"/>
          <p:nvPr>
            <p:ph type="title"/>
          </p:nvPr>
        </p:nvSpPr>
        <p:spPr>
          <a:xfrm>
            <a:off x="914400" y="277812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Times New Roman"/>
              <a:buNone/>
            </a:pPr>
            <a:r>
              <a:rPr b="0" i="0" lang="en-US" sz="42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 to Inheritance</a:t>
            </a:r>
            <a:endParaRPr/>
          </a:p>
        </p:txBody>
      </p:sp>
      <p:sp>
        <p:nvSpPr>
          <p:cNvPr id="118" name="Google Shape;118;p2"/>
          <p:cNvSpPr txBox="1"/>
          <p:nvPr>
            <p:ph idx="1" type="body"/>
          </p:nvPr>
        </p:nvSpPr>
        <p:spPr>
          <a:xfrm>
            <a:off x="914400" y="1600200"/>
            <a:ext cx="80010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520"/>
              <a:buFont typeface="Noto Sans Symbols"/>
              <a:buChar char="■"/>
            </a:pPr>
            <a:r>
              <a:rPr b="1" i="1" lang="en-US" sz="2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Inheritance</a:t>
            </a: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one of the main techniques of object-oriented programming (OOP)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2520"/>
              <a:buFont typeface="Noto Sans Symbols"/>
              <a:buChar char="■"/>
            </a:pPr>
            <a:r>
              <a:rPr b="1" i="1" lang="en-US" sz="28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Inheritance</a:t>
            </a: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models the </a:t>
            </a:r>
            <a:r>
              <a:rPr b="1" i="1" lang="en-US" sz="28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is-a</a:t>
            </a:r>
            <a:r>
              <a:rPr b="1" i="0" lang="en-US" sz="28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relationship that consists of </a:t>
            </a:r>
            <a:r>
              <a:rPr b="1" i="0" lang="en-US" sz="2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superclass</a:t>
            </a: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i="0" lang="en-US" sz="2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subclass</a:t>
            </a: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2880"/>
              <a:buFont typeface="Noto Sans Symbols"/>
              <a:buChar char="■"/>
            </a:pPr>
            <a:r>
              <a:rPr b="1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Superclass</a:t>
            </a:r>
            <a:r>
              <a:rPr b="1" i="0" lang="en-US" sz="32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a </a:t>
            </a:r>
            <a:r>
              <a:rPr b="1" i="0" lang="en-US" sz="30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general class </a:t>
            </a:r>
            <a:r>
              <a:rPr b="1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subclass is a </a:t>
            </a:r>
            <a:r>
              <a:rPr b="1" i="0" lang="en-US" sz="30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specialized class</a:t>
            </a:r>
            <a:r>
              <a:rPr b="1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folHlink"/>
              </a:buClr>
              <a:buSzPts val="2700"/>
              <a:buFont typeface="Noto Sans Symbols"/>
              <a:buChar char="■"/>
            </a:pPr>
            <a:r>
              <a:rPr b="1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Specialized classes are said to </a:t>
            </a:r>
            <a:r>
              <a:rPr b="1" i="1" lang="en-US" sz="30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inherit</a:t>
            </a:r>
            <a:r>
              <a:rPr b="1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 methods and instance variables of the superclass.</a:t>
            </a:r>
            <a:endParaRPr/>
          </a:p>
        </p:txBody>
      </p:sp>
    </p:spTree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24" name="Google Shape;124;p3"/>
          <p:cNvSpPr txBox="1"/>
          <p:nvPr>
            <p:ph type="title"/>
          </p:nvPr>
        </p:nvSpPr>
        <p:spPr>
          <a:xfrm>
            <a:off x="914400" y="277812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Times New Roman"/>
              <a:buNone/>
            </a:pPr>
            <a:r>
              <a:rPr b="1" i="0" lang="en-US" sz="42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Inheritance?</a:t>
            </a:r>
            <a:br>
              <a:rPr b="1" i="0" lang="en-US" sz="42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0" lang="en-US" sz="34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Generalization</a:t>
            </a:r>
            <a:r>
              <a:rPr b="1" i="0" lang="en-US" sz="3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vs. </a:t>
            </a:r>
            <a:r>
              <a:rPr b="1" i="0" lang="en-US" sz="34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Specialization</a:t>
            </a:r>
            <a:endParaRPr/>
          </a:p>
        </p:txBody>
      </p:sp>
      <p:sp>
        <p:nvSpPr>
          <p:cNvPr id="125" name="Google Shape;125;p3"/>
          <p:cNvSpPr txBox="1"/>
          <p:nvPr>
            <p:ph idx="1" type="body"/>
          </p:nvPr>
        </p:nvSpPr>
        <p:spPr>
          <a:xfrm>
            <a:off x="762000" y="16002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160"/>
              <a:buFont typeface="Noto Sans Symbols"/>
              <a:buChar char="■"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Real-life objects are typically specialized versions of other more general objects.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2160"/>
              <a:buFont typeface="Noto Sans Symbols"/>
              <a:buChar char="■"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term “</a:t>
            </a:r>
            <a:r>
              <a:rPr b="1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insect</a:t>
            </a: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 describes a very general type of creature with numerous characteristics.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2160"/>
              <a:buFont typeface="Noto Sans Symbols"/>
              <a:buChar char="■"/>
            </a:pPr>
            <a:r>
              <a:rPr b="1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Grasshoppers</a:t>
            </a: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bumblebees</a:t>
            </a: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are insects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■"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They share the general characteristics of an insect.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■"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However, they have </a:t>
            </a:r>
            <a:r>
              <a:rPr b="1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special characteristics </a:t>
            </a: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 their own.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100"/>
              <a:buFont typeface="Noto Sans Symbols"/>
              <a:buChar char="■"/>
            </a:pP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grasshoppers have a </a:t>
            </a:r>
            <a:r>
              <a:rPr b="1" i="0" lang="en-US" sz="20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jumping ability</a:t>
            </a: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and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100"/>
              <a:buFont typeface="Noto Sans Symbols"/>
              <a:buChar char="■"/>
            </a:pP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bumblebees have a </a:t>
            </a:r>
            <a:r>
              <a:rPr b="1" i="0" lang="en-US" sz="20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stinger</a:t>
            </a: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2160"/>
              <a:buFont typeface="Noto Sans Symbols"/>
              <a:buChar char="■"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Grasshoppers and bumblebees are </a:t>
            </a:r>
            <a:r>
              <a:rPr b="1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specialized versions</a:t>
            </a: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of an insect.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31" name="Google Shape;131;p4"/>
          <p:cNvSpPr txBox="1"/>
          <p:nvPr>
            <p:ph type="title"/>
          </p:nvPr>
        </p:nvSpPr>
        <p:spPr>
          <a:xfrm>
            <a:off x="914400" y="277812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Times New Roman"/>
              <a:buNone/>
            </a:pPr>
            <a:r>
              <a:rPr b="0" i="0" lang="en-US" sz="42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Inheritance</a:t>
            </a:r>
            <a:endParaRPr/>
          </a:p>
        </p:txBody>
      </p:sp>
      <p:sp>
        <p:nvSpPr>
          <p:cNvPr id="132" name="Google Shape;132;p4"/>
          <p:cNvSpPr txBox="1"/>
          <p:nvPr/>
        </p:nvSpPr>
        <p:spPr>
          <a:xfrm>
            <a:off x="3581400" y="1447800"/>
            <a:ext cx="2057400" cy="11430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Insect</a:t>
            </a:r>
            <a:endParaRPr/>
          </a:p>
        </p:txBody>
      </p:sp>
      <p:sp>
        <p:nvSpPr>
          <p:cNvPr id="133" name="Google Shape;133;p4"/>
          <p:cNvSpPr txBox="1"/>
          <p:nvPr/>
        </p:nvSpPr>
        <p:spPr>
          <a:xfrm>
            <a:off x="4724400" y="3429000"/>
            <a:ext cx="1981200" cy="11430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Grasshopper</a:t>
            </a:r>
            <a:endParaRPr/>
          </a:p>
        </p:txBody>
      </p:sp>
      <p:sp>
        <p:nvSpPr>
          <p:cNvPr id="134" name="Google Shape;134;p4"/>
          <p:cNvSpPr txBox="1"/>
          <p:nvPr/>
        </p:nvSpPr>
        <p:spPr>
          <a:xfrm>
            <a:off x="2514600" y="3429000"/>
            <a:ext cx="1981200" cy="11430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Bumble Bee</a:t>
            </a:r>
            <a:endParaRPr/>
          </a:p>
        </p:txBody>
      </p:sp>
      <p:cxnSp>
        <p:nvCxnSpPr>
          <p:cNvPr id="135" name="Google Shape;135;p4"/>
          <p:cNvCxnSpPr/>
          <p:nvPr/>
        </p:nvCxnSpPr>
        <p:spPr>
          <a:xfrm flipH="1" rot="10800000">
            <a:off x="3505200" y="2590800"/>
            <a:ext cx="1104900" cy="838200"/>
          </a:xfrm>
          <a:prstGeom prst="bentConnector3">
            <a:avLst>
              <a:gd fmla="val 50000" name="adj1"/>
            </a:avLst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136" name="Google Shape;136;p4"/>
          <p:cNvCxnSpPr/>
          <p:nvPr/>
        </p:nvCxnSpPr>
        <p:spPr>
          <a:xfrm rot="10800000">
            <a:off x="4610100" y="2590800"/>
            <a:ext cx="1104900" cy="838200"/>
          </a:xfrm>
          <a:prstGeom prst="bentConnector3">
            <a:avLst>
              <a:gd fmla="val 50000" name="adj1"/>
            </a:avLst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grpSp>
        <p:nvGrpSpPr>
          <p:cNvPr id="137" name="Google Shape;137;p4"/>
          <p:cNvGrpSpPr/>
          <p:nvPr/>
        </p:nvGrpSpPr>
        <p:grpSpPr>
          <a:xfrm>
            <a:off x="228600" y="2019300"/>
            <a:ext cx="3352800" cy="1100137"/>
            <a:chOff x="144" y="1272"/>
            <a:chExt cx="2112" cy="693"/>
          </a:xfrm>
        </p:grpSpPr>
        <p:sp>
          <p:nvSpPr>
            <p:cNvPr id="138" name="Google Shape;138;p4"/>
            <p:cNvSpPr txBox="1"/>
            <p:nvPr/>
          </p:nvSpPr>
          <p:spPr>
            <a:xfrm>
              <a:off x="144" y="1382"/>
              <a:ext cx="1776" cy="583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1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r>
                <a:rPr b="1" i="0" lang="en-US" sz="180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Contains those attributes and methods that are shared by all insects.</a:t>
              </a:r>
              <a:endParaRPr/>
            </a:p>
          </p:txBody>
        </p:sp>
        <p:cxnSp>
          <p:nvCxnSpPr>
            <p:cNvPr id="139" name="Google Shape;139;p4"/>
            <p:cNvCxnSpPr/>
            <p:nvPr/>
          </p:nvCxnSpPr>
          <p:spPr>
            <a:xfrm flipH="1" rot="10800000">
              <a:off x="1920" y="1272"/>
              <a:ext cx="336" cy="402"/>
            </a:xfrm>
            <a:prstGeom prst="bentConnector3">
              <a:avLst>
                <a:gd fmla="val 50000" name="adj1"/>
              </a:avLst>
            </a:prstGeom>
            <a:noFill/>
            <a:ln cap="flat" cmpd="sng" w="12700">
              <a:solidFill>
                <a:srgbClr val="FF0000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</p:grpSp>
      <p:grpSp>
        <p:nvGrpSpPr>
          <p:cNvPr id="140" name="Google Shape;140;p4"/>
          <p:cNvGrpSpPr/>
          <p:nvPr/>
        </p:nvGrpSpPr>
        <p:grpSpPr>
          <a:xfrm>
            <a:off x="342900" y="4010025"/>
            <a:ext cx="8305800" cy="1954212"/>
            <a:chOff x="240" y="2520"/>
            <a:chExt cx="5232" cy="1231"/>
          </a:xfrm>
        </p:grpSpPr>
        <p:sp>
          <p:nvSpPr>
            <p:cNvPr id="141" name="Google Shape;141;p4"/>
            <p:cNvSpPr txBox="1"/>
            <p:nvPr/>
          </p:nvSpPr>
          <p:spPr>
            <a:xfrm>
              <a:off x="240" y="3168"/>
              <a:ext cx="2160" cy="583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1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r>
                <a:rPr b="1" i="0" lang="en-US" sz="180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Contains those attributes and methods that specific to a Bumble Bee.</a:t>
              </a:r>
              <a:endParaRPr/>
            </a:p>
          </p:txBody>
        </p:sp>
        <p:cxnSp>
          <p:nvCxnSpPr>
            <p:cNvPr id="142" name="Google Shape;142;p4"/>
            <p:cNvCxnSpPr/>
            <p:nvPr/>
          </p:nvCxnSpPr>
          <p:spPr>
            <a:xfrm rot="-5400000">
              <a:off x="1128" y="2712"/>
              <a:ext cx="648" cy="264"/>
            </a:xfrm>
            <a:prstGeom prst="bentConnector2">
              <a:avLst/>
            </a:prstGeom>
            <a:noFill/>
            <a:ln cap="flat" cmpd="sng" w="12700">
              <a:solidFill>
                <a:srgbClr val="FF0000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sp>
          <p:nvSpPr>
            <p:cNvPr id="143" name="Google Shape;143;p4"/>
            <p:cNvSpPr txBox="1"/>
            <p:nvPr/>
          </p:nvSpPr>
          <p:spPr>
            <a:xfrm>
              <a:off x="3456" y="3168"/>
              <a:ext cx="2016" cy="583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1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r>
                <a:rPr b="1" i="0" lang="en-US" sz="180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Contains those attributes and methods that are specific to a Grasshopper.</a:t>
              </a:r>
              <a:endParaRPr/>
            </a:p>
          </p:txBody>
        </p:sp>
        <p:cxnSp>
          <p:nvCxnSpPr>
            <p:cNvPr id="144" name="Google Shape;144;p4"/>
            <p:cNvCxnSpPr/>
            <p:nvPr/>
          </p:nvCxnSpPr>
          <p:spPr>
            <a:xfrm flipH="1" rot="5400000">
              <a:off x="4020" y="2724"/>
              <a:ext cx="648" cy="240"/>
            </a:xfrm>
            <a:prstGeom prst="bentConnector2">
              <a:avLst/>
            </a:prstGeom>
            <a:noFill/>
            <a:ln cap="flat" cmpd="sng" w="12700">
              <a:solidFill>
                <a:srgbClr val="FF0000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</p:grpSp>
      <p:pic>
        <p:nvPicPr>
          <p:cNvPr descr="http://www.omlet.us/images/cache/208/208/bumblebee_buff-tailed_600.jpg" id="145" name="Google Shape;14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3424237"/>
            <a:ext cx="919162" cy="1152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encrypted-tbn1.gstatic.com/images?q=tbn:ANd9GcRDdFUyX22qwQKl9eVWD5jVnOFhnEOA_-gKvKzcf5pAPX-HnZsydA" id="146" name="Google Shape;146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39000" y="3551237"/>
            <a:ext cx="1295400" cy="981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52" name="Google Shape;152;p5"/>
          <p:cNvSpPr txBox="1"/>
          <p:nvPr>
            <p:ph type="title"/>
          </p:nvPr>
        </p:nvSpPr>
        <p:spPr>
          <a:xfrm>
            <a:off x="914400" y="277812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Times New Roman"/>
              <a:buNone/>
            </a:pPr>
            <a:r>
              <a:rPr b="1" i="0" lang="en-US" sz="42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“</a:t>
            </a:r>
            <a:r>
              <a:rPr b="1" i="0" lang="en-US" sz="42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a</a:t>
            </a:r>
            <a:r>
              <a:rPr b="1" i="0" lang="en-US" sz="42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” Relationship</a:t>
            </a:r>
            <a:endParaRPr/>
          </a:p>
        </p:txBody>
      </p:sp>
      <p:sp>
        <p:nvSpPr>
          <p:cNvPr id="153" name="Google Shape;153;p5"/>
          <p:cNvSpPr txBox="1"/>
          <p:nvPr>
            <p:ph idx="1" type="body"/>
          </p:nvPr>
        </p:nvSpPr>
        <p:spPr>
          <a:xfrm>
            <a:off x="914400" y="1600200"/>
            <a:ext cx="77724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340"/>
              <a:buFont typeface="Noto Sans Symbols"/>
              <a:buChar char="■"/>
            </a:pPr>
            <a:r>
              <a:rPr b="1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relationship between a superclass and an inherited class is called an “</a:t>
            </a:r>
            <a:r>
              <a:rPr b="1" i="0" lang="en-US" sz="26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is a</a:t>
            </a:r>
            <a:r>
              <a:rPr b="1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 relationship.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■"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grasshopper “</a:t>
            </a:r>
            <a:r>
              <a:rPr b="1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is</a:t>
            </a: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 insect.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■"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poodle “</a:t>
            </a:r>
            <a:r>
              <a:rPr b="1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is a</a:t>
            </a: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 dog.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■"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car “</a:t>
            </a:r>
            <a:r>
              <a:rPr b="1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is a</a:t>
            </a: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 vehicle.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folHlink"/>
              </a:buClr>
              <a:buSzPts val="2340"/>
              <a:buFont typeface="Noto Sans Symbols"/>
              <a:buChar char="■"/>
            </a:pPr>
            <a:r>
              <a:rPr b="1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specialized object has: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■"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all of the characteristics of the general object, plus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■"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additional characteristics that make it special.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folHlink"/>
              </a:buClr>
              <a:buSzPts val="2340"/>
              <a:buFont typeface="Noto Sans Symbols"/>
              <a:buChar char="■"/>
            </a:pPr>
            <a:r>
              <a:rPr b="1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OOP, </a:t>
            </a:r>
            <a:r>
              <a:rPr b="1" i="1" lang="en-US" sz="26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inheritance</a:t>
            </a:r>
            <a:r>
              <a:rPr b="1" i="1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used to create an “</a:t>
            </a:r>
            <a:r>
              <a:rPr b="1" i="0" lang="en-US" sz="26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is a</a:t>
            </a:r>
            <a:r>
              <a:rPr b="1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 relationship among classes.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59" name="Google Shape;159;p6"/>
          <p:cNvSpPr txBox="1"/>
          <p:nvPr>
            <p:ph type="title"/>
          </p:nvPr>
        </p:nvSpPr>
        <p:spPr>
          <a:xfrm>
            <a:off x="914400" y="277812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Times New Roman"/>
              <a:buNone/>
            </a:pPr>
            <a:r>
              <a:rPr b="1" i="0" lang="en-US" sz="42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“is a” Relationship</a:t>
            </a:r>
            <a:endParaRPr/>
          </a:p>
        </p:txBody>
      </p:sp>
      <p:sp>
        <p:nvSpPr>
          <p:cNvPr id="160" name="Google Shape;160;p6"/>
          <p:cNvSpPr txBox="1"/>
          <p:nvPr>
            <p:ph idx="1" type="body"/>
          </p:nvPr>
        </p:nvSpPr>
        <p:spPr>
          <a:xfrm>
            <a:off x="609600" y="1676400"/>
            <a:ext cx="81534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520"/>
              <a:buFont typeface="Noto Sans Symbols"/>
              <a:buChar char="■"/>
            </a:pP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can </a:t>
            </a:r>
            <a:r>
              <a:rPr b="1" i="1" lang="en-US" sz="2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extend</a:t>
            </a: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 capabilities of a class.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2520"/>
              <a:buFont typeface="Noto Sans Symbols"/>
              <a:buChar char="■"/>
            </a:pP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Inheritance involves a </a:t>
            </a:r>
            <a:r>
              <a:rPr b="1" i="0" lang="en-US" sz="2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superclass</a:t>
            </a: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a </a:t>
            </a:r>
            <a:r>
              <a:rPr b="1" i="0" lang="en-US" sz="2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subclass</a:t>
            </a: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■"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i="1" lang="en-US" sz="24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superclass</a:t>
            </a:r>
            <a:r>
              <a:rPr b="1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the </a:t>
            </a:r>
            <a:r>
              <a:rPr b="1" i="0" lang="en-US" sz="24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general class </a:t>
            </a: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■"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i="1" lang="en-US" sz="24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subclass</a:t>
            </a:r>
            <a:r>
              <a:rPr b="1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the </a:t>
            </a:r>
            <a:r>
              <a:rPr b="1" i="0" lang="en-US" sz="24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specialized class</a:t>
            </a: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2520"/>
              <a:buFont typeface="Noto Sans Symbols"/>
              <a:buChar char="■"/>
            </a:pP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subclass is based on, or extended from, the superclass.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■"/>
            </a:pPr>
            <a:r>
              <a:rPr b="1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Superclasses</a:t>
            </a: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are also called </a:t>
            </a:r>
            <a:r>
              <a:rPr b="1" i="1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base classes</a:t>
            </a: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and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■"/>
            </a:pPr>
            <a:r>
              <a:rPr b="1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Subclasses</a:t>
            </a: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are also called </a:t>
            </a:r>
            <a:r>
              <a:rPr b="1" i="1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derived</a:t>
            </a:r>
            <a:r>
              <a:rPr b="1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1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classes</a:t>
            </a:r>
            <a:r>
              <a:rPr b="1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2520"/>
              <a:buFont typeface="Noto Sans Symbols"/>
              <a:buChar char="■"/>
            </a:pP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relationship of classes can be thought of as  </a:t>
            </a:r>
            <a:r>
              <a:rPr b="1" i="1" lang="en-US" sz="2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parent classes </a:t>
            </a: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b="1" i="1" lang="en-US" sz="2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child classes</a:t>
            </a: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7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66" name="Google Shape;166;p7"/>
          <p:cNvSpPr txBox="1"/>
          <p:nvPr>
            <p:ph type="title"/>
          </p:nvPr>
        </p:nvSpPr>
        <p:spPr>
          <a:xfrm>
            <a:off x="914400" y="277812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Times New Roman"/>
              <a:buNone/>
            </a:pPr>
            <a:r>
              <a:rPr b="1" i="0" lang="en-US" sz="42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 to Inheritance</a:t>
            </a:r>
            <a:endParaRPr/>
          </a:p>
        </p:txBody>
      </p:sp>
      <p:sp>
        <p:nvSpPr>
          <p:cNvPr id="167" name="Google Shape;167;p7"/>
          <p:cNvSpPr txBox="1"/>
          <p:nvPr>
            <p:ph idx="1" type="body"/>
          </p:nvPr>
        </p:nvSpPr>
        <p:spPr>
          <a:xfrm>
            <a:off x="914400" y="1600200"/>
            <a:ext cx="79248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340"/>
              <a:buFont typeface="Noto Sans Symbols"/>
              <a:buChar char="■"/>
            </a:pPr>
            <a:r>
              <a:rPr b="1" i="0" lang="en-US" sz="26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Inheritance</a:t>
            </a:r>
            <a:r>
              <a:rPr b="1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the process by which a new class is created from another class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</a:pPr>
            <a:r>
              <a:rPr b="1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new class is called a </a:t>
            </a:r>
            <a:r>
              <a:rPr b="1" i="1" lang="en-US" sz="26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derived class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</a:pPr>
            <a:r>
              <a:rPr b="1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original class is called the </a:t>
            </a:r>
            <a:r>
              <a:rPr b="1" i="1" lang="en-US" sz="26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base class</a:t>
            </a:r>
            <a:endParaRPr b="1" i="0" sz="2600" u="none">
              <a:solidFill>
                <a:srgbClr val="0000C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folHlink"/>
              </a:buClr>
              <a:buSzPts val="2340"/>
              <a:buFont typeface="Noto Sans Symbols"/>
              <a:buChar char="■"/>
            </a:pPr>
            <a:r>
              <a:rPr b="1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i="0" lang="en-US" sz="26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derived class </a:t>
            </a:r>
            <a:r>
              <a:rPr b="1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automatically has all the instance variables and methods that the base class has, and it can have additional methods and/or instance variables as well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folHlink"/>
              </a:buClr>
              <a:buSzPts val="2340"/>
              <a:buFont typeface="Noto Sans Symbols"/>
              <a:buChar char="■"/>
            </a:pPr>
            <a:r>
              <a:rPr b="1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Inheritance is especially advantageous because it allows code to be </a:t>
            </a:r>
            <a:r>
              <a:rPr b="1" i="1" lang="en-US" sz="26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reused</a:t>
            </a:r>
            <a:r>
              <a:rPr b="1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without having to copy it into the definitions of the derived classes</a:t>
            </a:r>
            <a:endParaRPr/>
          </a:p>
        </p:txBody>
      </p:sp>
    </p:spTree>
  </p:cSld>
  <p:clrMapOvr>
    <a:masterClrMapping/>
  </p:clrMapOvr>
  <p:transition spd="med"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73" name="Google Shape;173;p8"/>
          <p:cNvSpPr txBox="1"/>
          <p:nvPr>
            <p:ph type="title"/>
          </p:nvPr>
        </p:nvSpPr>
        <p:spPr>
          <a:xfrm>
            <a:off x="685800" y="762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Times New Roman"/>
              <a:buNone/>
            </a:pPr>
            <a:r>
              <a:rPr b="1" i="0" lang="en-US" sz="42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GradedActivity Example</a:t>
            </a:r>
            <a:endParaRPr/>
          </a:p>
        </p:txBody>
      </p:sp>
      <p:sp>
        <p:nvSpPr>
          <p:cNvPr id="174" name="Google Shape;174;p8"/>
          <p:cNvSpPr txBox="1"/>
          <p:nvPr>
            <p:ph idx="1" type="body"/>
          </p:nvPr>
        </p:nvSpPr>
        <p:spPr>
          <a:xfrm>
            <a:off x="5105400" y="3895725"/>
            <a:ext cx="3886200" cy="21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16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650"/>
              <a:buFont typeface="Noto Sans Symbols"/>
              <a:buChar char="■"/>
            </a:pPr>
            <a:r>
              <a:rPr b="0" i="0" lang="en-US" sz="2200" u="sng">
                <a:solidFill>
                  <a:schemeClr val="dk1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GradedActivity.java</a:t>
            </a: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650"/>
              <a:buFont typeface="Noto Sans Symbols"/>
              <a:buChar char="■"/>
            </a:pPr>
            <a:r>
              <a:rPr b="0" i="0" lang="en-US" sz="2200" u="sng">
                <a:solidFill>
                  <a:schemeClr val="dk1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GradeDemo.java</a:t>
            </a: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650"/>
              <a:buFont typeface="Noto Sans Symbols"/>
              <a:buChar char="■"/>
            </a:pPr>
            <a:r>
              <a:rPr b="0" i="0" lang="en-US" sz="2200" u="sng">
                <a:solidFill>
                  <a:schemeClr val="dk1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FinalExam.java</a:t>
            </a: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650"/>
              <a:buFont typeface="Noto Sans Symbols"/>
              <a:buChar char="■"/>
            </a:pPr>
            <a:r>
              <a:rPr b="0" i="0" lang="en-US" sz="2200" u="sng">
                <a:solidFill>
                  <a:schemeClr val="dk1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FinalExamDemo.java</a:t>
            </a:r>
            <a:endParaRPr/>
          </a:p>
        </p:txBody>
      </p:sp>
      <p:grpSp>
        <p:nvGrpSpPr>
          <p:cNvPr id="175" name="Google Shape;175;p8"/>
          <p:cNvGrpSpPr/>
          <p:nvPr/>
        </p:nvGrpSpPr>
        <p:grpSpPr>
          <a:xfrm>
            <a:off x="838200" y="847725"/>
            <a:ext cx="3124200" cy="1981200"/>
            <a:chOff x="384" y="1008"/>
            <a:chExt cx="1968" cy="1248"/>
          </a:xfrm>
        </p:grpSpPr>
        <p:sp>
          <p:nvSpPr>
            <p:cNvPr id="176" name="Google Shape;176;p8"/>
            <p:cNvSpPr txBox="1"/>
            <p:nvPr/>
          </p:nvSpPr>
          <p:spPr>
            <a:xfrm>
              <a:off x="384" y="1008"/>
              <a:ext cx="1968" cy="288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Helvetica Neue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GradedActivity</a:t>
              </a:r>
              <a:endParaRPr/>
            </a:p>
          </p:txBody>
        </p:sp>
        <p:sp>
          <p:nvSpPr>
            <p:cNvPr id="177" name="Google Shape;177;p8"/>
            <p:cNvSpPr txBox="1"/>
            <p:nvPr/>
          </p:nvSpPr>
          <p:spPr>
            <a:xfrm>
              <a:off x="384" y="1296"/>
              <a:ext cx="1968" cy="336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Helvetica Neue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- score : double</a:t>
              </a:r>
              <a:endParaRPr/>
            </a:p>
          </p:txBody>
        </p:sp>
        <p:sp>
          <p:nvSpPr>
            <p:cNvPr id="178" name="Google Shape;178;p8"/>
            <p:cNvSpPr txBox="1"/>
            <p:nvPr/>
          </p:nvSpPr>
          <p:spPr>
            <a:xfrm>
              <a:off x="384" y="1632"/>
              <a:ext cx="1968" cy="624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Helvetica Neue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+ setScore(s : double) : void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Helvetica Neue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+ getScore() : double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Helvetica Neue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+ getGrade() : char</a:t>
              </a:r>
              <a:endParaRPr/>
            </a:p>
          </p:txBody>
        </p:sp>
      </p:grpSp>
      <p:grpSp>
        <p:nvGrpSpPr>
          <p:cNvPr id="179" name="Google Shape;179;p8"/>
          <p:cNvGrpSpPr/>
          <p:nvPr/>
        </p:nvGrpSpPr>
        <p:grpSpPr>
          <a:xfrm>
            <a:off x="990600" y="3438525"/>
            <a:ext cx="2819400" cy="2667000"/>
            <a:chOff x="192" y="1488"/>
            <a:chExt cx="1728" cy="1680"/>
          </a:xfrm>
        </p:grpSpPr>
        <p:sp>
          <p:nvSpPr>
            <p:cNvPr id="180" name="Google Shape;180;p8"/>
            <p:cNvSpPr txBox="1"/>
            <p:nvPr/>
          </p:nvSpPr>
          <p:spPr>
            <a:xfrm>
              <a:off x="192" y="1488"/>
              <a:ext cx="1728" cy="288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Helvetica Neue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FinalExam</a:t>
              </a:r>
              <a:endParaRPr/>
            </a:p>
          </p:txBody>
        </p:sp>
        <p:sp>
          <p:nvSpPr>
            <p:cNvPr id="181" name="Google Shape;181;p8"/>
            <p:cNvSpPr txBox="1"/>
            <p:nvPr/>
          </p:nvSpPr>
          <p:spPr>
            <a:xfrm>
              <a:off x="192" y="1776"/>
              <a:ext cx="1728" cy="576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Helvetica Neue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- numQuestions : int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Helvetica Neue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- pointsEach : double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Helvetica Neue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- numMissed : int</a:t>
              </a:r>
              <a:endParaRPr/>
            </a:p>
          </p:txBody>
        </p:sp>
        <p:sp>
          <p:nvSpPr>
            <p:cNvPr id="182" name="Google Shape;182;p8"/>
            <p:cNvSpPr txBox="1"/>
            <p:nvPr/>
          </p:nvSpPr>
          <p:spPr>
            <a:xfrm>
              <a:off x="192" y="2352"/>
              <a:ext cx="1728" cy="816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Helvetica Neue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+ FinalExam(questions : int, 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Helvetica Neue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                     missed : int) :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Helvetica Neue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+ getPointsEach() : double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Helvetica Neue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+ getNumMissed() : int</a:t>
              </a:r>
              <a:endParaRPr/>
            </a:p>
          </p:txBody>
        </p:sp>
      </p:grpSp>
      <p:cxnSp>
        <p:nvCxnSpPr>
          <p:cNvPr id="183" name="Google Shape;183;p8"/>
          <p:cNvCxnSpPr/>
          <p:nvPr/>
        </p:nvCxnSpPr>
        <p:spPr>
          <a:xfrm rot="10800000">
            <a:off x="2400300" y="2828925"/>
            <a:ext cx="0" cy="609600"/>
          </a:xfrm>
          <a:prstGeom prst="straightConnector1">
            <a:avLst/>
          </a:prstGeom>
          <a:noFill/>
          <a:ln cap="flat" cmpd="sng" w="31750">
            <a:solidFill>
              <a:schemeClr val="dk2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184" name="Google Shape;184;p8"/>
          <p:cNvSpPr txBox="1"/>
          <p:nvPr/>
        </p:nvSpPr>
        <p:spPr>
          <a:xfrm>
            <a:off x="4724400" y="1122362"/>
            <a:ext cx="4191000" cy="650875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1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Contains those attributes and methods that are shared by all graded activities.</a:t>
            </a:r>
            <a:endParaRPr/>
          </a:p>
        </p:txBody>
      </p:sp>
      <p:cxnSp>
        <p:nvCxnSpPr>
          <p:cNvPr id="185" name="Google Shape;185;p8"/>
          <p:cNvCxnSpPr/>
          <p:nvPr/>
        </p:nvCxnSpPr>
        <p:spPr>
          <a:xfrm rot="5400000">
            <a:off x="3900450" y="1509750"/>
            <a:ext cx="885900" cy="762000"/>
          </a:xfrm>
          <a:prstGeom prst="bentConnector3">
            <a:avLst>
              <a:gd fmla="val 50000" name="adj1"/>
            </a:avLst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186" name="Google Shape;186;p8"/>
          <p:cNvSpPr txBox="1"/>
          <p:nvPr/>
        </p:nvSpPr>
        <p:spPr>
          <a:xfrm>
            <a:off x="4724400" y="2249487"/>
            <a:ext cx="4191000" cy="12001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1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Contains those attributes and methods that are specific to the FinalExam class.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1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Inherits all non-private attributes and methods from the GradedActivity class.</a:t>
            </a:r>
            <a:endParaRPr/>
          </a:p>
        </p:txBody>
      </p:sp>
      <p:cxnSp>
        <p:nvCxnSpPr>
          <p:cNvPr id="187" name="Google Shape;187;p8"/>
          <p:cNvCxnSpPr/>
          <p:nvPr/>
        </p:nvCxnSpPr>
        <p:spPr>
          <a:xfrm rot="5400000">
            <a:off x="3515550" y="3144012"/>
            <a:ext cx="1503300" cy="914400"/>
          </a:xfrm>
          <a:prstGeom prst="bentConnector3">
            <a:avLst>
              <a:gd fmla="val 50000" name="adj1"/>
            </a:avLst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9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93" name="Google Shape;193;p9"/>
          <p:cNvSpPr txBox="1"/>
          <p:nvPr>
            <p:ph type="title"/>
          </p:nvPr>
        </p:nvSpPr>
        <p:spPr>
          <a:xfrm>
            <a:off x="914400" y="277812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Times New Roman"/>
              <a:buNone/>
            </a:pPr>
            <a:r>
              <a:rPr b="1" i="0" lang="en-US" sz="42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Inheritance, Fields and Methods</a:t>
            </a:r>
            <a:endParaRPr/>
          </a:p>
        </p:txBody>
      </p:sp>
      <p:sp>
        <p:nvSpPr>
          <p:cNvPr id="194" name="Google Shape;194;p9"/>
          <p:cNvSpPr txBox="1"/>
          <p:nvPr>
            <p:ph idx="1" type="body"/>
          </p:nvPr>
        </p:nvSpPr>
        <p:spPr>
          <a:xfrm>
            <a:off x="914400" y="1600200"/>
            <a:ext cx="80010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520"/>
              <a:buFont typeface="Noto Sans Symbols"/>
              <a:buChar char="■"/>
            </a:pP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Members of the superclass that are marked </a:t>
            </a:r>
            <a:r>
              <a:rPr b="1" i="1" lang="en-US" sz="28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private</a:t>
            </a: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1" i="1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■"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exist in memory when the object of the subclass is created, but </a:t>
            </a:r>
            <a:r>
              <a:rPr b="1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can not be accessed </a:t>
            </a: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by the subclass,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■"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may only be accessed from the subclass by public accessor methods of the superclass.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2520"/>
              <a:buFont typeface="Noto Sans Symbols"/>
              <a:buChar char="■"/>
            </a:pP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Members of the superclass that are marked </a:t>
            </a:r>
            <a:r>
              <a:rPr b="1" i="1" lang="en-US" sz="28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public</a:t>
            </a: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■"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are </a:t>
            </a:r>
            <a:r>
              <a:rPr b="1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inherited</a:t>
            </a: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by the subclass, and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■"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may be directly accessed from the subclass.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0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00" name="Google Shape;200;p10"/>
          <p:cNvSpPr txBox="1"/>
          <p:nvPr>
            <p:ph type="title"/>
          </p:nvPr>
        </p:nvSpPr>
        <p:spPr>
          <a:xfrm>
            <a:off x="914400" y="277812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Times New Roman"/>
              <a:buNone/>
            </a:pPr>
            <a:r>
              <a:rPr b="1" i="0" lang="en-US" sz="42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Protected Modifier</a:t>
            </a:r>
            <a:endParaRPr/>
          </a:p>
        </p:txBody>
      </p:sp>
      <p:sp>
        <p:nvSpPr>
          <p:cNvPr id="201" name="Google Shape;201;p10"/>
          <p:cNvSpPr txBox="1"/>
          <p:nvPr>
            <p:ph idx="1" type="body"/>
          </p:nvPr>
        </p:nvSpPr>
        <p:spPr>
          <a:xfrm>
            <a:off x="914400" y="1600200"/>
            <a:ext cx="77724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520"/>
              <a:buFont typeface="Noto Sans Symbols"/>
              <a:buChar char="■"/>
            </a:pPr>
            <a:r>
              <a:rPr b="1" i="0" lang="en-US" sz="2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Protected</a:t>
            </a: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modifier is used to control access to the members of a class. 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2520"/>
              <a:buFont typeface="Noto Sans Symbols"/>
              <a:buChar char="■"/>
            </a:pP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i="0" lang="en-US" sz="28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variable</a:t>
            </a: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or </a:t>
            </a:r>
            <a:r>
              <a:rPr b="1" i="0" lang="en-US" sz="28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method</a:t>
            </a: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declared with protected visibility may be accessed by any class in the </a:t>
            </a:r>
            <a:r>
              <a:rPr b="1" i="0" lang="en-US" sz="2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same package</a:t>
            </a: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 In other words a </a:t>
            </a:r>
            <a:r>
              <a:rPr b="1" i="0" lang="en-US" sz="28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derived class </a:t>
            </a: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 reference it. 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2520"/>
              <a:buFont typeface="Noto Sans Symbols"/>
              <a:buChar char="■"/>
            </a:pP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i="0" lang="en-US" sz="2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protected</a:t>
            </a: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visibility allows a class to retain some encapsulation properties. However, the encapsulation is not as tight as private. </a:t>
            </a:r>
            <a:endParaRPr/>
          </a:p>
        </p:txBody>
      </p:sp>
    </p:spTree>
  </p:cSld>
  <p:clrMapOvr>
    <a:masterClrMapping/>
  </p:clrMapOvr>
  <p:transition spd="med"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1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07" name="Google Shape;207;p11"/>
          <p:cNvSpPr txBox="1"/>
          <p:nvPr>
            <p:ph type="title"/>
          </p:nvPr>
        </p:nvSpPr>
        <p:spPr>
          <a:xfrm>
            <a:off x="914400" y="277812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Times New Roman"/>
              <a:buNone/>
            </a:pPr>
            <a:r>
              <a:rPr b="0" i="0" lang="en-US" sz="3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Other Modifier (Member Accessibility)</a:t>
            </a:r>
            <a:endParaRPr/>
          </a:p>
        </p:txBody>
      </p:sp>
      <p:sp>
        <p:nvSpPr>
          <p:cNvPr id="208" name="Google Shape;208;p11"/>
          <p:cNvSpPr txBox="1"/>
          <p:nvPr>
            <p:ph idx="1" type="body"/>
          </p:nvPr>
        </p:nvSpPr>
        <p:spPr>
          <a:xfrm>
            <a:off x="914400" y="1600200"/>
            <a:ext cx="77724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880"/>
              <a:buFont typeface="Noto Sans Symbols"/>
              <a:buChar char="■"/>
            </a:pPr>
            <a:r>
              <a:rPr b="1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Any </a:t>
            </a:r>
            <a:r>
              <a:rPr b="1" i="0" lang="en-US" sz="32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public</a:t>
            </a:r>
            <a:r>
              <a:rPr b="1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method or variable in a parent class can be explicitly referenced by name in the child class, and through objects of that child class.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2880"/>
              <a:buFont typeface="Noto Sans Symbols"/>
              <a:buChar char="■"/>
            </a:pPr>
            <a:r>
              <a:rPr b="1" i="0" lang="en-US" sz="32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Private</a:t>
            </a:r>
            <a:r>
              <a:rPr b="1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methods and variables of the parent class cannot be referenced in the child class, or through objects of the child class. </a:t>
            </a:r>
            <a:endParaRPr/>
          </a:p>
        </p:txBody>
      </p:sp>
    </p:spTree>
  </p:cSld>
  <p:clrMapOvr>
    <a:masterClrMapping/>
  </p:clrMapOvr>
  <p:transition spd="med"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2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14" name="Google Shape;214;p12"/>
          <p:cNvSpPr txBox="1"/>
          <p:nvPr>
            <p:ph type="title"/>
          </p:nvPr>
        </p:nvSpPr>
        <p:spPr>
          <a:xfrm>
            <a:off x="914400" y="277812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Times New Roman"/>
              <a:buNone/>
            </a:pPr>
            <a:r>
              <a:rPr b="0" i="0" lang="en-US" sz="42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Derived Class (Subclass)</a:t>
            </a:r>
            <a:endParaRPr/>
          </a:p>
        </p:txBody>
      </p:sp>
      <p:sp>
        <p:nvSpPr>
          <p:cNvPr id="215" name="Google Shape;215;p12"/>
          <p:cNvSpPr txBox="1"/>
          <p:nvPr>
            <p:ph idx="1" type="body"/>
          </p:nvPr>
        </p:nvSpPr>
        <p:spPr>
          <a:xfrm>
            <a:off x="914400" y="1600200"/>
            <a:ext cx="79248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340"/>
              <a:buFont typeface="Noto Sans Symbols"/>
              <a:buChar char="■"/>
            </a:pPr>
            <a:r>
              <a:rPr b="1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i="0" lang="en-US" sz="26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derived class</a:t>
            </a:r>
            <a:r>
              <a:rPr b="1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/ </a:t>
            </a:r>
            <a:r>
              <a:rPr b="1" i="1" lang="en-US" sz="26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subclass</a:t>
            </a:r>
            <a:r>
              <a:rPr b="1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is defined by starting with another already defined class, called a </a:t>
            </a:r>
            <a:r>
              <a:rPr b="1" i="1" lang="en-US" sz="26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base class</a:t>
            </a:r>
            <a:r>
              <a:rPr b="1" i="0" lang="en-US" sz="26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 </a:t>
            </a:r>
            <a:r>
              <a:rPr b="1" i="1" lang="en-US" sz="26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superclass</a:t>
            </a:r>
            <a:r>
              <a:rPr b="1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and adding (and/or changing) methods, instance variables, and static variables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</a:pPr>
            <a:r>
              <a:rPr b="1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derived class inherits all the </a:t>
            </a:r>
            <a:r>
              <a:rPr b="1" i="0" lang="en-US" sz="26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public methods</a:t>
            </a:r>
            <a:r>
              <a:rPr b="1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all the </a:t>
            </a:r>
            <a:r>
              <a:rPr b="1" i="0" lang="en-US" sz="26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public</a:t>
            </a:r>
            <a:r>
              <a:rPr b="1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i="0" lang="en-US" sz="26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private</a:t>
            </a:r>
            <a:r>
              <a:rPr b="1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6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instance variables</a:t>
            </a:r>
            <a:r>
              <a:rPr b="1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and all the </a:t>
            </a:r>
            <a:r>
              <a:rPr b="1" i="0" lang="en-US" sz="26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public</a:t>
            </a:r>
            <a:r>
              <a:rPr b="1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i="0" lang="en-US" sz="26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private</a:t>
            </a:r>
            <a:r>
              <a:rPr b="1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6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static variables </a:t>
            </a:r>
            <a:r>
              <a:rPr b="1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from the base class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</a:pPr>
            <a:r>
              <a:rPr b="1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derived class can add more instance variables, static variables, and/or methods</a:t>
            </a:r>
            <a:endParaRPr/>
          </a:p>
        </p:txBody>
      </p:sp>
    </p:spTree>
  </p:cSld>
  <p:clrMapOvr>
    <a:masterClrMapping/>
  </p:clrMapOvr>
  <p:transition spd="med"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3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21" name="Google Shape;221;p13"/>
          <p:cNvSpPr txBox="1"/>
          <p:nvPr>
            <p:ph type="title"/>
          </p:nvPr>
        </p:nvSpPr>
        <p:spPr>
          <a:xfrm>
            <a:off x="914400" y="277812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Times New Roman"/>
              <a:buNone/>
            </a:pPr>
            <a:r>
              <a:rPr b="0" i="0" lang="en-US" sz="42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Inherited Members</a:t>
            </a:r>
            <a:endParaRPr/>
          </a:p>
        </p:txBody>
      </p:sp>
      <p:sp>
        <p:nvSpPr>
          <p:cNvPr id="222" name="Google Shape;222;p13"/>
          <p:cNvSpPr txBox="1"/>
          <p:nvPr>
            <p:ph idx="1" type="body"/>
          </p:nvPr>
        </p:nvSpPr>
        <p:spPr>
          <a:xfrm>
            <a:off x="914400" y="1600200"/>
            <a:ext cx="77724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520"/>
              <a:buFont typeface="Noto Sans Symbols"/>
              <a:buChar char="■"/>
            </a:pP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derived class automatically has all the instance variables, static variables, and public methods of the base class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■"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Members from the base class are said to be </a:t>
            </a:r>
            <a:r>
              <a:rPr b="1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inherited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2520"/>
              <a:buFont typeface="Noto Sans Symbols"/>
              <a:buChar char="■"/>
            </a:pP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Definitions for the inherited variables and methods do not appear in the derived class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■"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code is reused without having to explicitly copy it, unless the creator of the derived class redefines one or more of the base class methods</a:t>
            </a:r>
            <a:endParaRPr/>
          </a:p>
        </p:txBody>
      </p:sp>
    </p:spTree>
  </p:cSld>
  <p:clrMapOvr>
    <a:masterClrMapping/>
  </p:clrMapOvr>
  <p:transition spd="med"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4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28" name="Google Shape;228;p14"/>
          <p:cNvSpPr txBox="1"/>
          <p:nvPr>
            <p:ph type="title"/>
          </p:nvPr>
        </p:nvSpPr>
        <p:spPr>
          <a:xfrm>
            <a:off x="914400" y="277812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Times New Roman"/>
              <a:buNone/>
            </a:pPr>
            <a:r>
              <a:rPr b="0" i="0" lang="en-US" sz="42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Parent and Child Classes</a:t>
            </a:r>
            <a:endParaRPr/>
          </a:p>
        </p:txBody>
      </p:sp>
      <p:sp>
        <p:nvSpPr>
          <p:cNvPr id="229" name="Google Shape;229;p14"/>
          <p:cNvSpPr txBox="1"/>
          <p:nvPr>
            <p:ph idx="1" type="body"/>
          </p:nvPr>
        </p:nvSpPr>
        <p:spPr>
          <a:xfrm>
            <a:off x="914400" y="1600200"/>
            <a:ext cx="77724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880"/>
              <a:buFont typeface="Noto Sans Symbols"/>
              <a:buChar char="■"/>
            </a:pPr>
            <a:r>
              <a:rPr b="1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base class → </a:t>
            </a:r>
            <a:r>
              <a:rPr b="1" i="1" lang="en-US" sz="32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parent </a:t>
            </a:r>
            <a:r>
              <a:rPr b="1" i="1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class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2880"/>
              <a:buFont typeface="Noto Sans Symbols"/>
              <a:buChar char="■"/>
            </a:pPr>
            <a:r>
              <a:rPr b="1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derived class → </a:t>
            </a:r>
            <a:r>
              <a:rPr b="1" i="1" lang="en-US" sz="32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child </a:t>
            </a:r>
            <a:r>
              <a:rPr b="1" i="1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class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2520"/>
              <a:buFont typeface="Noto Sans Symbols"/>
              <a:buChar char="■"/>
            </a:pP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These relationships are often extended such that a class that is a parent of a parent . . . of another class is called an </a:t>
            </a:r>
            <a:r>
              <a:rPr b="1" i="1" lang="en-US" sz="2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ancestor class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Noto Sans Symbols"/>
              <a:buChar char="■"/>
            </a:pP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class </a:t>
            </a:r>
            <a:r>
              <a:rPr b="1" i="0" lang="en-US" sz="2800" u="none">
                <a:solidFill>
                  <a:srgbClr val="034CA1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an ancestor of class </a:t>
            </a:r>
            <a:r>
              <a:rPr b="1" i="0" lang="en-US" sz="2800" u="none">
                <a:solidFill>
                  <a:srgbClr val="034CA1"/>
                </a:solidFill>
                <a:latin typeface="Courier New"/>
                <a:ea typeface="Courier New"/>
                <a:cs typeface="Courier New"/>
                <a:sym typeface="Courier New"/>
              </a:rPr>
              <a:t>B</a:t>
            </a: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then class </a:t>
            </a:r>
            <a:r>
              <a:rPr b="1" i="0" lang="en-US" sz="2800" u="none">
                <a:solidFill>
                  <a:srgbClr val="034CA1"/>
                </a:solidFill>
                <a:latin typeface="Courier New"/>
                <a:ea typeface="Courier New"/>
                <a:cs typeface="Courier New"/>
                <a:sym typeface="Courier New"/>
              </a:rPr>
              <a:t>B</a:t>
            </a: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can be called a </a:t>
            </a:r>
            <a:r>
              <a:rPr b="1" i="1" lang="en-US" sz="2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descendent</a:t>
            </a: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of class </a:t>
            </a:r>
            <a:r>
              <a:rPr b="1" i="0" lang="en-US" sz="2800" u="none">
                <a:solidFill>
                  <a:srgbClr val="034CA1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endParaRPr/>
          </a:p>
        </p:txBody>
      </p:sp>
    </p:spTree>
  </p:cSld>
  <p:clrMapOvr>
    <a:masterClrMapping/>
  </p:clrMapOvr>
  <p:transition spd="med"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5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35" name="Google Shape;235;p15"/>
          <p:cNvSpPr txBox="1"/>
          <p:nvPr>
            <p:ph type="title"/>
          </p:nvPr>
        </p:nvSpPr>
        <p:spPr>
          <a:xfrm>
            <a:off x="914400" y="277812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Times New Roman"/>
              <a:buNone/>
            </a:pPr>
            <a:r>
              <a:rPr b="1" i="0" lang="en-US" sz="42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 Derived Classes</a:t>
            </a:r>
            <a:endParaRPr/>
          </a:p>
        </p:txBody>
      </p:sp>
      <p:sp>
        <p:nvSpPr>
          <p:cNvPr id="236" name="Google Shape;236;p15"/>
          <p:cNvSpPr txBox="1"/>
          <p:nvPr>
            <p:ph idx="1" type="body"/>
          </p:nvPr>
        </p:nvSpPr>
        <p:spPr>
          <a:xfrm>
            <a:off x="914400" y="1600200"/>
            <a:ext cx="77724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880"/>
              <a:buFont typeface="Noto Sans Symbols"/>
              <a:buChar char="■"/>
            </a:pPr>
            <a:r>
              <a:rPr b="1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When designing certain classes, there is often a natural hierarchy for grouping them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Noto Sans Symbols"/>
              <a:buChar char="■"/>
            </a:pP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a book record-keeping program, there are dictionaries, encyclopeadia and other type of books.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Noto Sans Symbols"/>
              <a:buChar char="■"/>
            </a:pP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Within Java, a class called </a:t>
            </a:r>
            <a:r>
              <a:rPr b="1" i="0" lang="en-US" sz="2800" u="none">
                <a:solidFill>
                  <a:srgbClr val="034CA1"/>
                </a:solidFill>
                <a:latin typeface="Courier New"/>
                <a:ea typeface="Courier New"/>
                <a:cs typeface="Courier New"/>
                <a:sym typeface="Courier New"/>
              </a:rPr>
              <a:t>Book</a:t>
            </a: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can be defined that includes all type of books.</a:t>
            </a:r>
            <a:endParaRPr/>
          </a:p>
          <a:p>
            <a:pPr indent="-15240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Noto Sans Symbols"/>
              <a:buNone/>
            </a:pPr>
            <a:r>
              <a:t/>
            </a:r>
            <a:endParaRPr b="1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2880" lvl="0" marL="342900" rtl="0" algn="l">
              <a:spcBef>
                <a:spcPts val="560"/>
              </a:spcBef>
              <a:spcAft>
                <a:spcPts val="0"/>
              </a:spcAft>
              <a:buSzPts val="2520"/>
              <a:buNone/>
            </a:pPr>
            <a:r>
              <a:t/>
            </a:r>
            <a:endParaRPr b="1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6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1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42" name="Google Shape;242;p16"/>
          <p:cNvSpPr txBox="1"/>
          <p:nvPr>
            <p:ph type="title"/>
          </p:nvPr>
        </p:nvSpPr>
        <p:spPr>
          <a:xfrm>
            <a:off x="914400" y="277812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Times New Roman"/>
              <a:buNone/>
            </a:pPr>
            <a:r>
              <a:rPr b="1" i="0" lang="en-US" sz="42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 Derived Classes</a:t>
            </a:r>
            <a:endParaRPr/>
          </a:p>
        </p:txBody>
      </p:sp>
      <p:sp>
        <p:nvSpPr>
          <p:cNvPr id="243" name="Google Shape;243;p16"/>
          <p:cNvSpPr txBox="1"/>
          <p:nvPr>
            <p:ph idx="1" type="body"/>
          </p:nvPr>
        </p:nvSpPr>
        <p:spPr>
          <a:xfrm>
            <a:off x="914400" y="1600200"/>
            <a:ext cx="80772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700"/>
              <a:buFont typeface="Noto Sans Symbols"/>
              <a:buChar char="■"/>
            </a:pPr>
            <a:r>
              <a:rPr b="1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Since a dictionary is a book, it is defined as a </a:t>
            </a:r>
            <a:r>
              <a:rPr b="1" i="1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derived </a:t>
            </a:r>
            <a:r>
              <a:rPr b="1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class of the class </a:t>
            </a:r>
            <a:r>
              <a:rPr b="1" i="0" lang="en-US" sz="3000" u="none">
                <a:solidFill>
                  <a:srgbClr val="034CA1"/>
                </a:solidFill>
                <a:latin typeface="Courier New"/>
                <a:ea typeface="Courier New"/>
                <a:cs typeface="Courier New"/>
                <a:sym typeface="Courier New"/>
              </a:rPr>
              <a:t>Book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</a:pPr>
            <a:r>
              <a:rPr b="1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i="1" lang="en-US" sz="26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derived class</a:t>
            </a:r>
            <a:r>
              <a:rPr b="1" i="0" lang="en-US" sz="26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defined by adding instance variables and methods to an existing class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</a:pPr>
            <a:r>
              <a:rPr b="1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existing class that the derived class is built upon is called the </a:t>
            </a:r>
            <a:r>
              <a:rPr b="1" i="1" lang="en-US" sz="26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base class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</a:pPr>
            <a:r>
              <a:rPr b="1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phrase </a:t>
            </a:r>
            <a:r>
              <a:rPr b="1" i="0" lang="en-US" sz="2600" u="none">
                <a:solidFill>
                  <a:srgbClr val="034CA1"/>
                </a:solidFill>
                <a:latin typeface="Courier New"/>
                <a:ea typeface="Courier New"/>
                <a:cs typeface="Courier New"/>
                <a:sym typeface="Courier New"/>
              </a:rPr>
              <a:t>extends BaseClass</a:t>
            </a:r>
            <a:r>
              <a:rPr b="1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must be added to the derived class definition: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520"/>
              <a:buNone/>
            </a:pPr>
            <a:r>
              <a:rPr b="1" i="0" lang="en-US" sz="2800" u="none">
                <a:solidFill>
                  <a:srgbClr val="034CA1"/>
                </a:solidFill>
                <a:latin typeface="Courier New"/>
                <a:ea typeface="Courier New"/>
                <a:cs typeface="Courier New"/>
                <a:sym typeface="Courier New"/>
              </a:rPr>
              <a:t> public class Dictionary extends Book</a:t>
            </a:r>
            <a:endParaRPr/>
          </a:p>
        </p:txBody>
      </p:sp>
    </p:spTree>
  </p:cSld>
  <p:clrMapOvr>
    <a:masterClrMapping/>
  </p:clrMapOvr>
  <p:transition spd="med"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7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49" name="Google Shape;249;p17"/>
          <p:cNvSpPr txBox="1"/>
          <p:nvPr>
            <p:ph type="title"/>
          </p:nvPr>
        </p:nvSpPr>
        <p:spPr>
          <a:xfrm>
            <a:off x="914400" y="277812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Times New Roman"/>
              <a:buNone/>
            </a:pPr>
            <a:r>
              <a:rPr b="0" i="0" lang="en-US" sz="42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 Derived Classes</a:t>
            </a:r>
            <a:endParaRPr/>
          </a:p>
        </p:txBody>
      </p:sp>
      <p:sp>
        <p:nvSpPr>
          <p:cNvPr id="250" name="Google Shape;250;p17"/>
          <p:cNvSpPr txBox="1"/>
          <p:nvPr>
            <p:ph idx="1" type="body"/>
          </p:nvPr>
        </p:nvSpPr>
        <p:spPr>
          <a:xfrm>
            <a:off x="914400" y="1600200"/>
            <a:ext cx="77724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520"/>
              <a:buFont typeface="Noto Sans Symbols"/>
              <a:buChar char="■"/>
            </a:pP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UML an arrow with an open arrowhead is used to show inheritance.</a:t>
            </a:r>
            <a:r>
              <a:rPr b="1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grpSp>
        <p:nvGrpSpPr>
          <p:cNvPr id="251" name="Google Shape;251;p17"/>
          <p:cNvGrpSpPr/>
          <p:nvPr/>
        </p:nvGrpSpPr>
        <p:grpSpPr>
          <a:xfrm>
            <a:off x="2438400" y="2895600"/>
            <a:ext cx="3352800" cy="3733800"/>
            <a:chOff x="3825" y="7797"/>
            <a:chExt cx="3450" cy="5115"/>
          </a:xfrm>
        </p:grpSpPr>
        <p:grpSp>
          <p:nvGrpSpPr>
            <p:cNvPr id="252" name="Google Shape;252;p17"/>
            <p:cNvGrpSpPr/>
            <p:nvPr/>
          </p:nvGrpSpPr>
          <p:grpSpPr>
            <a:xfrm>
              <a:off x="4230" y="7797"/>
              <a:ext cx="2550" cy="1860"/>
              <a:chOff x="1905" y="7245"/>
              <a:chExt cx="2550" cy="1860"/>
            </a:xfrm>
          </p:grpSpPr>
          <p:sp>
            <p:nvSpPr>
              <p:cNvPr id="253" name="Google Shape;253;p17"/>
              <p:cNvSpPr txBox="1"/>
              <p:nvPr/>
            </p:nvSpPr>
            <p:spPr>
              <a:xfrm>
                <a:off x="1905" y="7245"/>
                <a:ext cx="2550" cy="495"/>
              </a:xfrm>
              <a:prstGeom prst="rect">
                <a:avLst/>
              </a:prstGeom>
              <a:solidFill>
                <a:srgbClr val="CCFFCC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Times New Roman"/>
                  <a:buNone/>
                </a:pPr>
                <a:r>
                  <a:rPr b="1" i="0" lang="en-US" sz="1600" u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Book</a:t>
                </a:r>
                <a:endParaRPr/>
              </a:p>
            </p:txBody>
          </p:sp>
          <p:sp>
            <p:nvSpPr>
              <p:cNvPr id="254" name="Google Shape;254;p17"/>
              <p:cNvSpPr txBox="1"/>
              <p:nvPr/>
            </p:nvSpPr>
            <p:spPr>
              <a:xfrm>
                <a:off x="1905" y="7725"/>
                <a:ext cx="2550" cy="495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Times New Roman"/>
                  <a:buNone/>
                </a:pPr>
                <a:r>
                  <a:rPr b="0" i="0" lang="en-US" sz="1600" u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# pages: int</a:t>
                </a:r>
                <a:endParaRPr/>
              </a:p>
            </p:txBody>
          </p:sp>
          <p:sp>
            <p:nvSpPr>
              <p:cNvPr id="255" name="Google Shape;255;p17"/>
              <p:cNvSpPr txBox="1"/>
              <p:nvPr/>
            </p:nvSpPr>
            <p:spPr>
              <a:xfrm>
                <a:off x="1905" y="8220"/>
                <a:ext cx="2550" cy="885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Times New Roman"/>
                  <a:buNone/>
                </a:pPr>
                <a:r>
                  <a:rPr b="0" i="0" lang="en-US" sz="1600" u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 getPages() : void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Times New Roman"/>
                  <a:buNone/>
                </a:pPr>
                <a:r>
                  <a:rPr b="0" i="0" lang="en-US" sz="1600" u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 setPages() : void</a:t>
                </a:r>
                <a:endParaRPr/>
              </a:p>
            </p:txBody>
          </p:sp>
        </p:grpSp>
        <p:sp>
          <p:nvSpPr>
            <p:cNvPr id="256" name="Google Shape;256;p17"/>
            <p:cNvSpPr txBox="1"/>
            <p:nvPr/>
          </p:nvSpPr>
          <p:spPr>
            <a:xfrm>
              <a:off x="3825" y="10902"/>
              <a:ext cx="3435" cy="495"/>
            </a:xfrm>
            <a:prstGeom prst="rect">
              <a:avLst/>
            </a:prstGeom>
            <a:solidFill>
              <a:srgbClr val="CCFFCC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imes New Roman"/>
                <a:buNone/>
              </a:pPr>
              <a:r>
                <a:rPr b="1" i="0" lang="en-US" sz="160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Dictionary</a:t>
              </a:r>
              <a:endParaRPr/>
            </a:p>
          </p:txBody>
        </p:sp>
        <p:sp>
          <p:nvSpPr>
            <p:cNvPr id="257" name="Google Shape;257;p17"/>
            <p:cNvSpPr txBox="1"/>
            <p:nvPr/>
          </p:nvSpPr>
          <p:spPr>
            <a:xfrm>
              <a:off x="3825" y="11382"/>
              <a:ext cx="3450" cy="495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imes New Roman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- definition: int</a:t>
              </a:r>
              <a:endParaRPr/>
            </a:p>
          </p:txBody>
        </p:sp>
        <p:sp>
          <p:nvSpPr>
            <p:cNvPr id="258" name="Google Shape;258;p17"/>
            <p:cNvSpPr txBox="1"/>
            <p:nvPr/>
          </p:nvSpPr>
          <p:spPr>
            <a:xfrm>
              <a:off x="3825" y="11877"/>
              <a:ext cx="3450" cy="1035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imes New Roman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 computeRatio() : double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imes New Roman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 setDefinitions(int) : void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imes New Roman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 getDefinitions() : int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259" name="Google Shape;259;p17"/>
            <p:cNvGrpSpPr/>
            <p:nvPr/>
          </p:nvGrpSpPr>
          <p:grpSpPr>
            <a:xfrm>
              <a:off x="5280" y="9656"/>
              <a:ext cx="315" cy="1260"/>
              <a:chOff x="5280" y="9105"/>
              <a:chExt cx="315" cy="1260"/>
            </a:xfrm>
          </p:grpSpPr>
          <p:sp>
            <p:nvSpPr>
              <p:cNvPr id="260" name="Google Shape;260;p17"/>
              <p:cNvSpPr/>
              <p:nvPr/>
            </p:nvSpPr>
            <p:spPr>
              <a:xfrm>
                <a:off x="5280" y="9105"/>
                <a:ext cx="315" cy="240"/>
              </a:xfrm>
              <a:prstGeom prst="triangle">
                <a:avLst>
                  <a:gd fmla="val 5000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61" name="Google Shape;261;p17"/>
              <p:cNvCxnSpPr/>
              <p:nvPr/>
            </p:nvCxnSpPr>
            <p:spPr>
              <a:xfrm>
                <a:off x="5445" y="9345"/>
                <a:ext cx="0" cy="102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  <p:transition spd="med">
    <p:wipe dir="r"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8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67" name="Google Shape;267;p18"/>
          <p:cNvSpPr txBox="1"/>
          <p:nvPr>
            <p:ph type="title"/>
          </p:nvPr>
        </p:nvSpPr>
        <p:spPr>
          <a:xfrm>
            <a:off x="914400" y="277812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Times New Roman"/>
              <a:buNone/>
            </a:pPr>
            <a:r>
              <a:rPr b="0" i="0" lang="en-US" sz="42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 Derived Classes</a:t>
            </a:r>
            <a:endParaRPr/>
          </a:p>
        </p:txBody>
      </p:sp>
      <p:sp>
        <p:nvSpPr>
          <p:cNvPr id="268" name="Google Shape;268;p18"/>
          <p:cNvSpPr txBox="1"/>
          <p:nvPr>
            <p:ph idx="1" type="body"/>
          </p:nvPr>
        </p:nvSpPr>
        <p:spPr>
          <a:xfrm>
            <a:off x="914400" y="1600200"/>
            <a:ext cx="77724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880"/>
              <a:buFont typeface="Noto Sans Symbols"/>
              <a:buChar char="■"/>
            </a:pPr>
            <a:r>
              <a:rPr b="1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Class </a:t>
            </a:r>
            <a:r>
              <a:rPr b="1" i="0" lang="en-US" sz="3200" u="none">
                <a:solidFill>
                  <a:srgbClr val="034CA1"/>
                </a:solidFill>
                <a:latin typeface="Courier New"/>
                <a:ea typeface="Courier New"/>
                <a:cs typeface="Courier New"/>
                <a:sym typeface="Courier New"/>
              </a:rPr>
              <a:t>Book</a:t>
            </a:r>
            <a:r>
              <a:rPr b="1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defines the instance variables </a:t>
            </a:r>
            <a:r>
              <a:rPr b="1" i="0" lang="en-US" sz="3200" u="none">
                <a:solidFill>
                  <a:srgbClr val="034CA1"/>
                </a:solidFill>
                <a:latin typeface="Courier New"/>
                <a:ea typeface="Courier New"/>
                <a:cs typeface="Courier New"/>
                <a:sym typeface="Courier New"/>
              </a:rPr>
              <a:t>pages</a:t>
            </a:r>
            <a:r>
              <a:rPr b="1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 its class definition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2880"/>
              <a:buFont typeface="Noto Sans Symbols"/>
              <a:buChar char="■"/>
            </a:pPr>
            <a:r>
              <a:rPr b="1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Class </a:t>
            </a:r>
            <a:r>
              <a:rPr b="1" i="0" lang="en-US" sz="3200" u="none">
                <a:solidFill>
                  <a:srgbClr val="034CA1"/>
                </a:solidFill>
                <a:latin typeface="Courier New"/>
                <a:ea typeface="Courier New"/>
                <a:cs typeface="Courier New"/>
                <a:sym typeface="Courier New"/>
              </a:rPr>
              <a:t>Dictionary</a:t>
            </a:r>
            <a:r>
              <a:rPr b="1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also has these instance variables, but they are not specified in its class definition.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2880"/>
              <a:buFont typeface="Noto Sans Symbols"/>
              <a:buChar char="■"/>
            </a:pPr>
            <a:r>
              <a:rPr b="1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Class </a:t>
            </a:r>
            <a:r>
              <a:rPr b="1" i="0" lang="en-US" sz="3200" u="none">
                <a:solidFill>
                  <a:srgbClr val="034CA1"/>
                </a:solidFill>
                <a:latin typeface="Courier New"/>
                <a:ea typeface="Courier New"/>
                <a:cs typeface="Courier New"/>
                <a:sym typeface="Courier New"/>
              </a:rPr>
              <a:t>Dictionary</a:t>
            </a:r>
            <a:r>
              <a:rPr b="1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has additional instance variable </a:t>
            </a:r>
            <a:r>
              <a:rPr b="1" i="0" lang="en-US" sz="3200" u="none">
                <a:solidFill>
                  <a:srgbClr val="034CA1"/>
                </a:solidFill>
                <a:latin typeface="Courier New"/>
                <a:ea typeface="Courier New"/>
                <a:cs typeface="Courier New"/>
                <a:sym typeface="Courier New"/>
              </a:rPr>
              <a:t>definitions</a:t>
            </a:r>
            <a:r>
              <a:rPr b="1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that are speci</a:t>
            </a:r>
            <a:r>
              <a:rPr b="1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fied in its class definition.</a:t>
            </a:r>
            <a:endParaRPr/>
          </a:p>
        </p:txBody>
      </p:sp>
    </p:spTree>
  </p:cSld>
  <p:clrMapOvr>
    <a:masterClrMapping/>
  </p:clrMapOvr>
  <p:transition spd="med"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9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74" name="Google Shape;274;p19"/>
          <p:cNvSpPr txBox="1"/>
          <p:nvPr>
            <p:ph type="title"/>
          </p:nvPr>
        </p:nvSpPr>
        <p:spPr>
          <a:xfrm>
            <a:off x="914400" y="277812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Times New Roman"/>
              <a:buNone/>
            </a:pPr>
            <a:r>
              <a:rPr b="0" i="0" lang="en-US" sz="42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 Derived Classes</a:t>
            </a:r>
            <a:endParaRPr/>
          </a:p>
        </p:txBody>
      </p:sp>
      <p:sp>
        <p:nvSpPr>
          <p:cNvPr id="275" name="Google Shape;275;p19"/>
          <p:cNvSpPr txBox="1"/>
          <p:nvPr>
            <p:ph idx="1" type="body"/>
          </p:nvPr>
        </p:nvSpPr>
        <p:spPr>
          <a:xfrm>
            <a:off x="914400" y="1600200"/>
            <a:ext cx="77724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880"/>
              <a:buFont typeface="Noto Sans Symbols"/>
              <a:buChar char="■"/>
            </a:pPr>
            <a:r>
              <a:rPr b="1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Just as it inherits the instance variables of the class </a:t>
            </a:r>
            <a:r>
              <a:rPr b="1" i="0" lang="en-US" sz="3200" u="none">
                <a:solidFill>
                  <a:srgbClr val="034CA1"/>
                </a:solidFill>
                <a:latin typeface="Courier New"/>
                <a:ea typeface="Courier New"/>
                <a:cs typeface="Courier New"/>
                <a:sym typeface="Courier New"/>
              </a:rPr>
              <a:t>Book</a:t>
            </a:r>
            <a:r>
              <a:rPr b="1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the class </a:t>
            </a:r>
            <a:r>
              <a:rPr b="1" i="0" lang="en-US" sz="3200" u="none">
                <a:solidFill>
                  <a:srgbClr val="034CA1"/>
                </a:solidFill>
                <a:latin typeface="Courier New"/>
                <a:ea typeface="Courier New"/>
                <a:cs typeface="Courier New"/>
                <a:sym typeface="Courier New"/>
              </a:rPr>
              <a:t>Dictionary</a:t>
            </a:r>
            <a:r>
              <a:rPr b="1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inherits all of its methods as well</a:t>
            </a:r>
            <a:endParaRPr b="1" i="0" sz="3200" u="none">
              <a:solidFill>
                <a:srgbClr val="034C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Noto Sans Symbols"/>
              <a:buChar char="■"/>
            </a:pP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class </a:t>
            </a:r>
            <a:r>
              <a:rPr b="1" i="0" lang="en-US" sz="2800" u="none">
                <a:solidFill>
                  <a:srgbClr val="034CA1"/>
                </a:solidFill>
                <a:latin typeface="Courier New"/>
                <a:ea typeface="Courier New"/>
                <a:cs typeface="Courier New"/>
                <a:sym typeface="Courier New"/>
              </a:rPr>
              <a:t>Dictionary</a:t>
            </a: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inherits the methods </a:t>
            </a:r>
            <a:r>
              <a:rPr b="1" i="0" lang="en-US" sz="2800" u="none">
                <a:solidFill>
                  <a:srgbClr val="034CA1"/>
                </a:solidFill>
                <a:latin typeface="Courier New"/>
                <a:ea typeface="Courier New"/>
                <a:cs typeface="Courier New"/>
                <a:sym typeface="Courier New"/>
              </a:rPr>
              <a:t>getPages</a:t>
            </a: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and </a:t>
            </a:r>
            <a:r>
              <a:rPr b="1" i="0" lang="en-US" sz="2800" u="none">
                <a:solidFill>
                  <a:srgbClr val="034CA1"/>
                </a:solidFill>
                <a:latin typeface="Courier New"/>
                <a:ea typeface="Courier New"/>
                <a:cs typeface="Courier New"/>
                <a:sym typeface="Courier New"/>
              </a:rPr>
              <a:t>setPages</a:t>
            </a: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from the class </a:t>
            </a:r>
            <a:r>
              <a:rPr b="1" i="0" lang="en-US" sz="2800" u="none">
                <a:solidFill>
                  <a:srgbClr val="034CA1"/>
                </a:solidFill>
                <a:latin typeface="Courier New"/>
                <a:ea typeface="Courier New"/>
                <a:cs typeface="Courier New"/>
                <a:sym typeface="Courier New"/>
              </a:rPr>
              <a:t>Book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Noto Sans Symbols"/>
              <a:buChar char="■"/>
            </a:pP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Any object of the class </a:t>
            </a:r>
            <a:r>
              <a:rPr b="1" i="0" lang="en-US" sz="2800" u="none">
                <a:solidFill>
                  <a:srgbClr val="034CA1"/>
                </a:solidFill>
                <a:latin typeface="Courier New"/>
                <a:ea typeface="Courier New"/>
                <a:cs typeface="Courier New"/>
                <a:sym typeface="Courier New"/>
              </a:rPr>
              <a:t>Dictionary</a:t>
            </a: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can invoke one of these methods, just like any other method.</a:t>
            </a:r>
            <a:endParaRPr/>
          </a:p>
        </p:txBody>
      </p:sp>
    </p:spTree>
  </p:cSld>
  <p:clrMapOvr>
    <a:masterClrMapping/>
  </p:clrMapOvr>
  <p:transition spd="med">
    <p:wipe dir="r"/>
  </p:transition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0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81" name="Google Shape;281;p20"/>
          <p:cNvSpPr txBox="1"/>
          <p:nvPr>
            <p:ph type="title"/>
          </p:nvPr>
        </p:nvSpPr>
        <p:spPr>
          <a:xfrm>
            <a:off x="914400" y="277812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Times New Roman"/>
              <a:buNone/>
            </a:pPr>
            <a:r>
              <a:rPr b="0" i="0" lang="en-US" sz="42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Self-test 1</a:t>
            </a:r>
            <a:endParaRPr/>
          </a:p>
        </p:txBody>
      </p:sp>
      <p:sp>
        <p:nvSpPr>
          <p:cNvPr id="282" name="Google Shape;282;p20"/>
          <p:cNvSpPr txBox="1"/>
          <p:nvPr>
            <p:ph idx="1" type="body"/>
          </p:nvPr>
        </p:nvSpPr>
        <p:spPr>
          <a:xfrm>
            <a:off x="914400" y="1600200"/>
            <a:ext cx="77724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09600" lvl="0" marL="609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520"/>
              <a:buFont typeface="Noto Sans Symbols"/>
              <a:buChar char="■"/>
            </a:pP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Define a base class to represent a Clock. Your class should have instance variables for hours, minutes and seconds.</a:t>
            </a:r>
            <a:endParaRPr/>
          </a:p>
          <a:p>
            <a:pPr indent="-609600" lvl="0" marL="6096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2520"/>
              <a:buFont typeface="Noto Sans Symbols"/>
              <a:buChar char="■"/>
            </a:pP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Define a derived class to represent an alarm clock.  Use the Clock class, created above, as your base class.</a:t>
            </a:r>
            <a:endParaRPr/>
          </a:p>
          <a:p>
            <a:pPr indent="-609600" lvl="0" marL="6096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2520"/>
              <a:buFont typeface="Noto Sans Symbols"/>
              <a:buChar char="■"/>
            </a:pP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Create an application TestClock, i.e. a test driver program, to test the functionality of your AlarmClock class.</a:t>
            </a:r>
            <a:endParaRPr/>
          </a:p>
        </p:txBody>
      </p:sp>
    </p:spTree>
  </p:cSld>
  <p:clrMapOvr>
    <a:masterClrMapping/>
  </p:clrMapOvr>
  <p:transition spd="med">
    <p:wipe dir="r"/>
  </p:transition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1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88" name="Google Shape;288;p21"/>
          <p:cNvSpPr txBox="1"/>
          <p:nvPr>
            <p:ph type="title"/>
          </p:nvPr>
        </p:nvSpPr>
        <p:spPr>
          <a:xfrm>
            <a:off x="914400" y="449262"/>
            <a:ext cx="7772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Times New Roman"/>
              <a:buNone/>
            </a:pPr>
            <a:r>
              <a:rPr b="1" i="0" lang="en-US" sz="3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Are superclass’s Constructor Inherited?</a:t>
            </a:r>
            <a:endParaRPr/>
          </a:p>
        </p:txBody>
      </p:sp>
      <p:sp>
        <p:nvSpPr>
          <p:cNvPr id="289" name="Google Shape;289;p21"/>
          <p:cNvSpPr txBox="1"/>
          <p:nvPr/>
        </p:nvSpPr>
        <p:spPr>
          <a:xfrm>
            <a:off x="609600" y="1524000"/>
            <a:ext cx="8686800" cy="1679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None/>
            </a:pPr>
            <a:r>
              <a:rPr b="1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No. They are not inherited.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None/>
            </a:pPr>
            <a:r>
              <a:rPr b="1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They are invoked </a:t>
            </a:r>
            <a:r>
              <a:rPr b="1" i="0" lang="en-US" sz="26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explicitly</a:t>
            </a:r>
            <a:r>
              <a:rPr b="1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or </a:t>
            </a:r>
            <a:r>
              <a:rPr b="1" i="0" lang="en-US" sz="26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implicitly</a:t>
            </a:r>
            <a:r>
              <a:rPr b="1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None/>
            </a:pPr>
            <a:r>
              <a:rPr b="1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Explicitly using the </a:t>
            </a:r>
            <a:r>
              <a:rPr b="1" i="0" lang="en-US" sz="26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</a:t>
            </a:r>
            <a:r>
              <a:rPr b="1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keyword.</a:t>
            </a:r>
            <a:endParaRPr/>
          </a:p>
        </p:txBody>
      </p:sp>
      <p:sp>
        <p:nvSpPr>
          <p:cNvPr id="290" name="Google Shape;290;p21"/>
          <p:cNvSpPr txBox="1"/>
          <p:nvPr/>
        </p:nvSpPr>
        <p:spPr>
          <a:xfrm>
            <a:off x="762000" y="3276600"/>
            <a:ext cx="8229600" cy="308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1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constructor is used to construct an instance of a class. Unlike properties and methods, a superclass's constructors are not inherited in the subclass. They can only be invoked from the subclasses' constructors, using the keyword </a:t>
            </a:r>
            <a:r>
              <a:rPr b="1" i="0" lang="en-US" sz="2800" u="sng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</a:t>
            </a:r>
            <a:r>
              <a:rPr b="1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b="1" i="1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the keyword </a:t>
            </a:r>
            <a:r>
              <a:rPr b="1" i="1" lang="en-US" sz="28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</a:t>
            </a:r>
            <a:r>
              <a:rPr b="1" i="1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not explicitly used, the superclass's no-arg constructor is automatically invoked.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2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96" name="Google Shape;296;p22"/>
          <p:cNvSpPr txBox="1"/>
          <p:nvPr>
            <p:ph type="title"/>
          </p:nvPr>
        </p:nvSpPr>
        <p:spPr>
          <a:xfrm>
            <a:off x="914400" y="277812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Times New Roman"/>
              <a:buNone/>
            </a:pPr>
            <a:r>
              <a:rPr b="1" i="0" lang="en-US" sz="42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Inheritance and Constructors</a:t>
            </a:r>
            <a:endParaRPr/>
          </a:p>
        </p:txBody>
      </p:sp>
      <p:sp>
        <p:nvSpPr>
          <p:cNvPr id="297" name="Google Shape;297;p22"/>
          <p:cNvSpPr txBox="1"/>
          <p:nvPr>
            <p:ph idx="1" type="body"/>
          </p:nvPr>
        </p:nvSpPr>
        <p:spPr>
          <a:xfrm>
            <a:off x="914400" y="1600200"/>
            <a:ext cx="80010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520"/>
              <a:buFont typeface="Noto Sans Symbols"/>
              <a:buChar char="■"/>
            </a:pP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Constructors are not inherited.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2520"/>
              <a:buFont typeface="Noto Sans Symbols"/>
              <a:buChar char="■"/>
            </a:pP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When a subclass is instantiated, the superclass default constructor is executed  first (</a:t>
            </a:r>
            <a:r>
              <a:rPr b="1" i="0" lang="en-US" sz="2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implicitly</a:t>
            </a: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2520"/>
              <a:buFont typeface="Noto Sans Symbols"/>
              <a:buChar char="■"/>
            </a:pP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</a:pPr>
            <a:r>
              <a:rPr b="1" i="0" lang="en-US" sz="2600" u="sng">
                <a:solidFill>
                  <a:schemeClr val="dk1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SuperClass1.java</a:t>
            </a:r>
            <a:r>
              <a:rPr b="1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</a:pPr>
            <a:r>
              <a:rPr b="1" i="0" lang="en-US" sz="2600" u="sng">
                <a:solidFill>
                  <a:schemeClr val="dk1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SubClass1.java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</a:pPr>
            <a:r>
              <a:rPr b="1" i="0" lang="en-US" sz="2600" u="sng">
                <a:solidFill>
                  <a:schemeClr val="dk1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ConstructorDemo1.java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3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03" name="Google Shape;303;p23"/>
          <p:cNvSpPr txBox="1"/>
          <p:nvPr>
            <p:ph type="title"/>
          </p:nvPr>
        </p:nvSpPr>
        <p:spPr>
          <a:xfrm>
            <a:off x="914400" y="277812"/>
            <a:ext cx="8077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Times New Roman"/>
              <a:buNone/>
            </a:pPr>
            <a:r>
              <a:rPr b="1" i="0" lang="en-US" sz="3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Inheritance and Constructors (Example)</a:t>
            </a:r>
            <a:endParaRPr/>
          </a:p>
        </p:txBody>
      </p:sp>
      <p:sp>
        <p:nvSpPr>
          <p:cNvPr id="304" name="Google Shape;304;p23"/>
          <p:cNvSpPr txBox="1"/>
          <p:nvPr>
            <p:ph idx="1" type="body"/>
          </p:nvPr>
        </p:nvSpPr>
        <p:spPr>
          <a:xfrm>
            <a:off x="914400" y="1600200"/>
            <a:ext cx="77724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20"/>
              <a:buNone/>
            </a:pPr>
            <a:r>
              <a:rPr b="1" i="0" lang="en-US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public class </a:t>
            </a:r>
            <a:r>
              <a:rPr b="1" i="0" lang="en-US" sz="1800" u="non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SuperClass1 </a:t>
            </a:r>
            <a:r>
              <a:rPr b="1" i="0" lang="en-US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1" i="0" lang="en-US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public </a:t>
            </a:r>
            <a:r>
              <a:rPr b="1" i="0" lang="en-US" sz="1800" u="non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SuperClass1</a:t>
            </a:r>
            <a:r>
              <a:rPr b="1" i="0" lang="en-US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() {  /** Constructor   */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1" i="0" lang="en-US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System.out.println("This is the " +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1" i="0" lang="en-US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"superclass constructor.");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1" i="0" lang="en-US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1" i="0" lang="en-US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1" i="0" lang="en-US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public class </a:t>
            </a:r>
            <a:r>
              <a:rPr b="1" i="0" lang="en-US" sz="1800" u="non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SubClass1</a:t>
            </a:r>
            <a:r>
              <a:rPr b="1" i="0" lang="en-US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extends </a:t>
            </a:r>
            <a:r>
              <a:rPr b="1" i="0" lang="en-US" sz="1800" u="non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SuperClass1 </a:t>
            </a:r>
            <a:r>
              <a:rPr b="1" i="0" lang="en-US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1" i="0" lang="en-US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public </a:t>
            </a:r>
            <a:r>
              <a:rPr b="1" i="0" lang="en-US" sz="1800" u="non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SubClass1</a:t>
            </a:r>
            <a:r>
              <a:rPr b="1" i="0" lang="en-US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()  {/** Constructor   */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1" i="0" lang="en-US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</a:t>
            </a:r>
            <a:r>
              <a:rPr b="1" i="0" lang="en-US" sz="1800" u="none">
                <a:solidFill>
                  <a:srgbClr val="0000CC"/>
                </a:solidFill>
                <a:latin typeface="Courier New"/>
                <a:ea typeface="Courier New"/>
                <a:cs typeface="Courier New"/>
                <a:sym typeface="Courier New"/>
              </a:rPr>
              <a:t>// implicit call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1" i="0" lang="en-US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System.out.println("This is the " +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1" i="0" lang="en-US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"subclass constructor.");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1" i="0" lang="en-US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1" i="0" lang="en-US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1" i="0" lang="en-US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public class ConstructorDemo1 {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1" i="0" lang="en-US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public static void main(String[] args) {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1" i="0" lang="en-US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SubClass1 obj = new SubClass1(); </a:t>
            </a:r>
            <a:endParaRPr b="1" i="0" sz="1800" u="none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1" i="0" lang="en-US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1" i="0" lang="en-US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40030" lvl="0" marL="342900" rtl="0" algn="l"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4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10" name="Google Shape;310;p24"/>
          <p:cNvSpPr txBox="1"/>
          <p:nvPr>
            <p:ph type="title"/>
          </p:nvPr>
        </p:nvSpPr>
        <p:spPr>
          <a:xfrm>
            <a:off x="685800" y="0"/>
            <a:ext cx="8077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Times New Roman"/>
              <a:buNone/>
            </a:pPr>
            <a:r>
              <a:rPr b="0" i="0" lang="en-US" sz="42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Calling The Superclass Constructor</a:t>
            </a:r>
            <a:endParaRPr/>
          </a:p>
        </p:txBody>
      </p:sp>
      <p:sp>
        <p:nvSpPr>
          <p:cNvPr id="311" name="Google Shape;311;p24"/>
          <p:cNvSpPr txBox="1"/>
          <p:nvPr>
            <p:ph idx="1" type="body"/>
          </p:nvPr>
        </p:nvSpPr>
        <p:spPr>
          <a:xfrm>
            <a:off x="685800" y="1371600"/>
            <a:ext cx="82296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880"/>
              <a:buFont typeface="Noto Sans Symbols"/>
              <a:buChar char="■"/>
            </a:pPr>
            <a:r>
              <a:rPr b="1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a </a:t>
            </a:r>
            <a:r>
              <a:rPr b="1" i="0" lang="en-US" sz="32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parameterized constructor </a:t>
            </a:r>
            <a:r>
              <a:rPr b="1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defined in the superclass,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Noto Sans Symbols"/>
              <a:buChar char="■"/>
            </a:pP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superclass must provide a no-arg constructor, or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Clr>
                <a:schemeClr val="accent1"/>
              </a:buClr>
              <a:buSzPts val="2025"/>
              <a:buFont typeface="Noto Sans Symbols"/>
              <a:buChar char="■"/>
            </a:pPr>
            <a:r>
              <a:rPr b="1" i="0" lang="en-US" sz="2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subclasses must provide a constructor, and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Clr>
                <a:schemeClr val="accent1"/>
              </a:buClr>
              <a:buSzPts val="2025"/>
              <a:buFont typeface="Noto Sans Symbols"/>
              <a:buChar char="■"/>
            </a:pPr>
            <a:r>
              <a:rPr b="1" i="0" lang="en-US" sz="2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subclasses must call a superclass constructor.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2880"/>
              <a:buFont typeface="Noto Sans Symbols"/>
              <a:buChar char="■"/>
            </a:pPr>
            <a:r>
              <a:rPr b="1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Calls to a superclass constructor must be the </a:t>
            </a:r>
            <a:r>
              <a:rPr b="1" i="0" lang="en-US" sz="32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first java statement </a:t>
            </a:r>
            <a:r>
              <a:rPr b="1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the subclass constructors.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5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17" name="Google Shape;317;p25"/>
          <p:cNvSpPr txBox="1"/>
          <p:nvPr>
            <p:ph type="title"/>
          </p:nvPr>
        </p:nvSpPr>
        <p:spPr>
          <a:xfrm>
            <a:off x="914400" y="277812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Times New Roman"/>
              <a:buNone/>
            </a:pPr>
            <a:r>
              <a:rPr b="0" i="0" lang="en-US" sz="3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Inheritance and Constructors (Example super keyword)</a:t>
            </a:r>
            <a:endParaRPr/>
          </a:p>
        </p:txBody>
      </p:sp>
      <p:sp>
        <p:nvSpPr>
          <p:cNvPr id="318" name="Google Shape;318;p25"/>
          <p:cNvSpPr txBox="1"/>
          <p:nvPr>
            <p:ph idx="1" type="body"/>
          </p:nvPr>
        </p:nvSpPr>
        <p:spPr>
          <a:xfrm>
            <a:off x="914400" y="1600200"/>
            <a:ext cx="77724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rPr b="1" i="0" lang="en-US" sz="16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public class </a:t>
            </a:r>
            <a:r>
              <a:rPr b="1" i="0" lang="en-US" sz="1600" u="non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SuperClass2  </a:t>
            </a:r>
            <a:r>
              <a:rPr b="1" i="0" lang="en-US" sz="16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440"/>
              <a:buNone/>
            </a:pPr>
            <a:r>
              <a:rPr b="1" i="0" lang="en-US" sz="16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public </a:t>
            </a:r>
            <a:r>
              <a:rPr b="1" i="0" lang="en-US" sz="1600" u="non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SuperClass2</a:t>
            </a:r>
            <a:r>
              <a:rPr b="1" i="0" lang="en-US" sz="16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()   { // Constructor #1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440"/>
              <a:buNone/>
            </a:pPr>
            <a:r>
              <a:rPr b="1" i="0" lang="en-US" sz="16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System.out.println("This is the superclass " +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440"/>
              <a:buNone/>
            </a:pPr>
            <a:r>
              <a:rPr b="1" i="0" lang="en-US" sz="16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     "no-arg constructor.");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440"/>
              <a:buNone/>
            </a:pPr>
            <a:r>
              <a:rPr b="1" i="0" lang="en-US" sz="16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440"/>
              <a:buNone/>
            </a:pPr>
            <a:r>
              <a:rPr b="1" i="0" lang="en-US" sz="16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public </a:t>
            </a:r>
            <a:r>
              <a:rPr b="1" i="0" lang="en-US" sz="1600" u="non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SuperClass2(int</a:t>
            </a:r>
            <a:r>
              <a:rPr b="1" i="0" lang="en-US" sz="16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arg) { // Constructor #2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440"/>
              <a:buNone/>
            </a:pPr>
            <a:r>
              <a:rPr b="1" i="0" lang="en-US" sz="16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System.out.println("The following argument was" +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440"/>
              <a:buNone/>
            </a:pPr>
            <a:r>
              <a:rPr b="1" i="0" lang="en-US" sz="16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"passed to the superclass constructor: " + arg);     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440"/>
              <a:buNone/>
            </a:pPr>
            <a:r>
              <a:rPr b="1" i="0" lang="en-US" sz="16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440"/>
              <a:buNone/>
            </a:pPr>
            <a:r>
              <a:rPr b="1" i="0" lang="en-US" sz="16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b="1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440"/>
              <a:buNone/>
            </a:pPr>
            <a:r>
              <a:rPr b="1" i="0" lang="en-US" sz="16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public class </a:t>
            </a:r>
            <a:r>
              <a:rPr b="1" i="0" lang="en-US" sz="1600" u="non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SubClass2</a:t>
            </a:r>
            <a:r>
              <a:rPr b="1" i="0" lang="en-US" sz="16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extends </a:t>
            </a:r>
            <a:r>
              <a:rPr b="1" i="0" lang="en-US" sz="1600" u="non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SuperClass2 </a:t>
            </a:r>
            <a:r>
              <a:rPr b="1" i="0" lang="en-US" sz="16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440"/>
              <a:buNone/>
            </a:pPr>
            <a:r>
              <a:rPr b="1" i="0" lang="en-US" sz="16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public </a:t>
            </a:r>
            <a:r>
              <a:rPr b="1" i="0" lang="en-US" sz="1600" u="non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SubClass2</a:t>
            </a:r>
            <a:r>
              <a:rPr b="1" i="0" lang="en-US" sz="16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() {  // Constructor 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440"/>
              <a:buNone/>
            </a:pPr>
            <a:r>
              <a:rPr b="1" i="0" lang="en-US" sz="16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b="1" i="0" lang="en-US" sz="1600" u="none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super(10); </a:t>
            </a:r>
            <a:r>
              <a:rPr b="1" i="0" lang="en-US" sz="16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// </a:t>
            </a:r>
            <a:r>
              <a:rPr b="1" i="0" lang="en-US" sz="1600" u="non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explicit call</a:t>
            </a:r>
            <a:endParaRPr b="1" i="0" sz="1600" u="none">
              <a:solidFill>
                <a:srgbClr val="0070C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440"/>
              <a:buNone/>
            </a:pPr>
            <a:r>
              <a:rPr b="1" i="0" lang="en-US" sz="16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System.out.println("This is the " +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440"/>
              <a:buNone/>
            </a:pPr>
            <a:r>
              <a:rPr b="1" i="0" lang="en-US" sz="16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"subclass constructor.");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440"/>
              <a:buNone/>
            </a:pPr>
            <a:r>
              <a:rPr b="1" i="0" lang="en-US" sz="16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440"/>
              <a:buNone/>
            </a:pPr>
            <a:r>
              <a:rPr b="1" i="0" lang="en-US" sz="16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b="1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440"/>
              <a:buNone/>
            </a:pPr>
            <a:r>
              <a:rPr b="1" i="0" lang="en-US" sz="16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public class ConstructorDemo2  {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440"/>
              <a:buNone/>
            </a:pPr>
            <a:r>
              <a:rPr b="1" i="0" lang="en-US" sz="16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public static void main(String[] args)   {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440"/>
              <a:buNone/>
            </a:pPr>
            <a:r>
              <a:rPr b="1" i="0" lang="en-US" sz="16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SubClass2 obj = new SubClass2();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440"/>
              <a:buNone/>
            </a:pPr>
            <a:r>
              <a:rPr b="1" i="0" lang="en-US" sz="16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440"/>
              <a:buNone/>
            </a:pPr>
            <a:r>
              <a:rPr b="1" i="0" lang="en-US" sz="16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i="0" sz="16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1459" lvl="0" marL="342900" rtl="0" algn="l">
              <a:spcBef>
                <a:spcPts val="32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 b="1" i="0" sz="16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6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24" name="Google Shape;324;p26"/>
          <p:cNvSpPr txBox="1"/>
          <p:nvPr>
            <p:ph type="title"/>
          </p:nvPr>
        </p:nvSpPr>
        <p:spPr>
          <a:xfrm>
            <a:off x="914400" y="277812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Times New Roman"/>
              <a:buNone/>
            </a:pPr>
            <a:r>
              <a:rPr b="0" i="0" lang="en-US" sz="3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difference</a:t>
            </a:r>
            <a:endParaRPr/>
          </a:p>
        </p:txBody>
      </p:sp>
      <p:sp>
        <p:nvSpPr>
          <p:cNvPr id="325" name="Google Shape;325;p26"/>
          <p:cNvSpPr txBox="1"/>
          <p:nvPr>
            <p:ph idx="1" type="body"/>
          </p:nvPr>
        </p:nvSpPr>
        <p:spPr>
          <a:xfrm>
            <a:off x="990600" y="1752600"/>
            <a:ext cx="77724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20"/>
              <a:buNone/>
            </a:pPr>
            <a:r>
              <a:rPr b="1" i="0" lang="en-US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public class </a:t>
            </a:r>
            <a:r>
              <a:rPr b="1" i="0" lang="en-US" sz="1800" u="non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SuperClass1 </a:t>
            </a:r>
            <a:r>
              <a:rPr b="1" i="0" lang="en-US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1" i="0" lang="en-US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public </a:t>
            </a:r>
            <a:r>
              <a:rPr b="1" i="0" lang="en-US" sz="1800" u="non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SuperClass1</a:t>
            </a:r>
            <a:r>
              <a:rPr b="1" i="0" lang="en-US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() { ... } }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1" i="0" lang="en-US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public class </a:t>
            </a:r>
            <a:r>
              <a:rPr b="1" i="0" lang="en-US" sz="1800" u="non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SubClass1</a:t>
            </a:r>
            <a:r>
              <a:rPr b="1" i="0" lang="en-US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extends </a:t>
            </a:r>
            <a:r>
              <a:rPr b="1" i="0" lang="en-US" sz="1800" u="non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SuperClass1 </a:t>
            </a:r>
            <a:r>
              <a:rPr b="1" i="0" lang="en-US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1" i="0" lang="en-US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public </a:t>
            </a:r>
            <a:r>
              <a:rPr b="1" i="0" lang="en-US" sz="1800" u="non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SubClass1</a:t>
            </a:r>
            <a:r>
              <a:rPr b="1" i="0" lang="en-US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()  {</a:t>
            </a:r>
            <a:r>
              <a:rPr b="1" i="0" lang="en-US" sz="1800" u="none">
                <a:solidFill>
                  <a:srgbClr val="0000CC"/>
                </a:solidFill>
                <a:latin typeface="Courier New"/>
                <a:ea typeface="Courier New"/>
                <a:cs typeface="Courier New"/>
                <a:sym typeface="Courier New"/>
              </a:rPr>
              <a:t>// implicit call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1" i="0" lang="en-US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System.out.println("subclass constructor.");   } }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1" i="0" lang="en-US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public class </a:t>
            </a:r>
            <a:r>
              <a:rPr b="1" i="0" lang="en-US" sz="1800" u="non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SuperClass2  </a:t>
            </a:r>
            <a:r>
              <a:rPr b="1" i="0" lang="en-US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1" i="0" lang="en-US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public </a:t>
            </a:r>
            <a:r>
              <a:rPr b="1" i="0" lang="en-US" sz="1800" u="non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SuperClass2</a:t>
            </a:r>
            <a:r>
              <a:rPr b="1" i="0" lang="en-US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()   { ... }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1" i="0" lang="en-US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public </a:t>
            </a:r>
            <a:r>
              <a:rPr b="1" i="0" lang="en-US" sz="1800" u="non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SuperClass2(int</a:t>
            </a:r>
            <a:r>
              <a:rPr b="1" i="0" lang="en-US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arg) { ... } }</a:t>
            </a: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1" i="0" lang="en-US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public class </a:t>
            </a:r>
            <a:r>
              <a:rPr b="1" i="0" lang="en-US" sz="1800" u="non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SubClass2</a:t>
            </a:r>
            <a:r>
              <a:rPr b="1" i="0" lang="en-US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extends </a:t>
            </a:r>
            <a:r>
              <a:rPr b="1" i="0" lang="en-US" sz="1800" u="non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SuperClass2 </a:t>
            </a:r>
            <a:r>
              <a:rPr b="1" i="0" lang="en-US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1" i="0" lang="en-US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public </a:t>
            </a:r>
            <a:r>
              <a:rPr b="1" i="0" lang="en-US" sz="1800" u="non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SubClass2</a:t>
            </a:r>
            <a:r>
              <a:rPr b="1" i="0" lang="en-US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() {  // Constructor 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1" i="0" lang="en-US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b="1" i="0" lang="en-US" sz="1800" u="none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super(10); </a:t>
            </a:r>
            <a:r>
              <a:rPr b="1" i="0" lang="en-US" sz="1800" u="none">
                <a:solidFill>
                  <a:srgbClr val="0000CC"/>
                </a:solidFill>
                <a:latin typeface="Courier New"/>
                <a:ea typeface="Courier New"/>
                <a:cs typeface="Courier New"/>
                <a:sym typeface="Courier New"/>
              </a:rPr>
              <a:t>// explicit call</a:t>
            </a:r>
            <a:endParaRPr b="1" i="0" sz="1800" u="none">
              <a:solidFill>
                <a:srgbClr val="0070C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rPr b="1" i="0" lang="en-US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System.out.println("subclass constructor."); }}</a:t>
            </a: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40030" lvl="0" marL="342900" rtl="0" algn="l">
              <a:spcBef>
                <a:spcPts val="360"/>
              </a:spcBef>
              <a:spcAft>
                <a:spcPts val="0"/>
              </a:spcAft>
              <a:buSzPts val="1620"/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26" name="Google Shape;326;p26"/>
          <p:cNvSpPr/>
          <p:nvPr/>
        </p:nvSpPr>
        <p:spPr>
          <a:xfrm>
            <a:off x="838200" y="1600200"/>
            <a:ext cx="8001000" cy="2133600"/>
          </a:xfrm>
          <a:prstGeom prst="roundRect">
            <a:avLst>
              <a:gd fmla="val 2383" name="adj"/>
            </a:avLst>
          </a:prstGeom>
          <a:noFill/>
          <a:ln cap="flat" cmpd="sng" w="25400">
            <a:solidFill>
              <a:srgbClr val="0000C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26"/>
          <p:cNvSpPr/>
          <p:nvPr/>
        </p:nvSpPr>
        <p:spPr>
          <a:xfrm>
            <a:off x="838200" y="4038600"/>
            <a:ext cx="8001000" cy="2438400"/>
          </a:xfrm>
          <a:prstGeom prst="roundRect">
            <a:avLst>
              <a:gd fmla="val 2383" name="adj"/>
            </a:avLst>
          </a:prstGeom>
          <a:noFill/>
          <a:ln cap="flat" cmpd="sng" w="25400">
            <a:solidFill>
              <a:srgbClr val="00B05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7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33" name="Google Shape;333;p27"/>
          <p:cNvSpPr txBox="1"/>
          <p:nvPr>
            <p:ph type="title"/>
          </p:nvPr>
        </p:nvSpPr>
        <p:spPr>
          <a:xfrm>
            <a:off x="914400" y="277812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Times New Roman"/>
              <a:buNone/>
            </a:pPr>
            <a:r>
              <a:rPr b="0" i="0" lang="en-US" sz="42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b="1" i="0" lang="en-US" sz="4200" u="non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super</a:t>
            </a:r>
            <a:r>
              <a:rPr b="0" i="0" lang="en-US" sz="42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Constructor</a:t>
            </a:r>
            <a:endParaRPr/>
          </a:p>
        </p:txBody>
      </p:sp>
      <p:sp>
        <p:nvSpPr>
          <p:cNvPr id="334" name="Google Shape;334;p27"/>
          <p:cNvSpPr txBox="1"/>
          <p:nvPr>
            <p:ph idx="1" type="body"/>
          </p:nvPr>
        </p:nvSpPr>
        <p:spPr>
          <a:xfrm>
            <a:off x="914400" y="1600200"/>
            <a:ext cx="77724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880"/>
              <a:buFont typeface="Noto Sans Symbols"/>
              <a:buChar char="■"/>
            </a:pPr>
            <a:r>
              <a:rPr b="1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call to the base class constructor can never use the name of the base class, but uses the keyword </a:t>
            </a:r>
            <a:r>
              <a:rPr b="1" i="0" lang="en-US" sz="3200" u="none">
                <a:solidFill>
                  <a:srgbClr val="034CA1"/>
                </a:solidFill>
                <a:latin typeface="Courier New"/>
                <a:ea typeface="Courier New"/>
                <a:cs typeface="Courier New"/>
                <a:sym typeface="Courier New"/>
              </a:rPr>
              <a:t>super</a:t>
            </a:r>
            <a:r>
              <a:rPr b="1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instead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2880"/>
              <a:buFont typeface="Noto Sans Symbols"/>
              <a:buChar char="■"/>
            </a:pPr>
            <a:r>
              <a:rPr b="1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call to </a:t>
            </a:r>
            <a:r>
              <a:rPr b="1" i="0" lang="en-US" sz="3200" u="none">
                <a:solidFill>
                  <a:srgbClr val="034CA1"/>
                </a:solidFill>
                <a:latin typeface="Courier New"/>
                <a:ea typeface="Courier New"/>
                <a:cs typeface="Courier New"/>
                <a:sym typeface="Courier New"/>
              </a:rPr>
              <a:t>super</a:t>
            </a:r>
            <a:r>
              <a:rPr b="1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must always be the first action taken in a constructor definition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2880"/>
              <a:buFont typeface="Noto Sans Symbols"/>
              <a:buChar char="■"/>
            </a:pPr>
            <a:r>
              <a:rPr b="1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 instance variable cannot be used as an argument to </a:t>
            </a:r>
            <a:r>
              <a:rPr b="1" i="0" lang="en-US" sz="3200" u="none">
                <a:solidFill>
                  <a:srgbClr val="034CA1"/>
                </a:solidFill>
                <a:latin typeface="Courier New"/>
                <a:ea typeface="Courier New"/>
                <a:cs typeface="Courier New"/>
                <a:sym typeface="Courier New"/>
              </a:rPr>
              <a:t>super</a:t>
            </a:r>
            <a:endParaRPr/>
          </a:p>
        </p:txBody>
      </p:sp>
    </p:spTree>
  </p:cSld>
  <p:clrMapOvr>
    <a:masterClrMapping/>
  </p:clrMapOvr>
  <p:transition spd="med">
    <p:wipe dir="r"/>
  </p:transition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8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40" name="Google Shape;340;p28"/>
          <p:cNvSpPr txBox="1"/>
          <p:nvPr>
            <p:ph type="title"/>
          </p:nvPr>
        </p:nvSpPr>
        <p:spPr>
          <a:xfrm>
            <a:off x="914400" y="277812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Times New Roman"/>
              <a:buNone/>
            </a:pPr>
            <a:r>
              <a:rPr b="0" i="0" lang="en-US" sz="42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b="1" i="0" lang="en-US" sz="4200" u="non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super</a:t>
            </a:r>
            <a:r>
              <a:rPr b="0" i="0" lang="en-US" sz="42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Constructor</a:t>
            </a:r>
            <a:endParaRPr/>
          </a:p>
        </p:txBody>
      </p:sp>
      <p:sp>
        <p:nvSpPr>
          <p:cNvPr id="341" name="Google Shape;341;p28"/>
          <p:cNvSpPr txBox="1"/>
          <p:nvPr>
            <p:ph idx="1" type="body"/>
          </p:nvPr>
        </p:nvSpPr>
        <p:spPr>
          <a:xfrm>
            <a:off x="914400" y="1600200"/>
            <a:ext cx="80010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520"/>
              <a:buFont typeface="Noto Sans Symbols"/>
              <a:buChar char="■"/>
            </a:pP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a derived class constructor does not include an invocation of </a:t>
            </a:r>
            <a:r>
              <a:rPr b="1" i="0" lang="en-US" sz="2800" u="none">
                <a:solidFill>
                  <a:srgbClr val="034CA1"/>
                </a:solidFill>
                <a:latin typeface="Courier New"/>
                <a:ea typeface="Courier New"/>
                <a:cs typeface="Courier New"/>
                <a:sym typeface="Courier New"/>
              </a:rPr>
              <a:t>super</a:t>
            </a: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then the </a:t>
            </a:r>
            <a:r>
              <a:rPr b="1" i="0" lang="en-US" sz="2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no-argument constructor </a:t>
            </a: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 the base class will automatically be invoked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■"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can result in an error if the base class has not defined a no-argument constructor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2520"/>
              <a:buFont typeface="Noto Sans Symbols"/>
              <a:buChar char="■"/>
            </a:pP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Since the inherited instance variables should be initialized, and the base class constructor is designed to do that, then an explicit call to </a:t>
            </a:r>
            <a:r>
              <a:rPr b="1" i="0" lang="en-US" sz="2800" u="none">
                <a:solidFill>
                  <a:srgbClr val="034CA1"/>
                </a:solidFill>
                <a:latin typeface="Courier New"/>
                <a:ea typeface="Courier New"/>
                <a:cs typeface="Courier New"/>
                <a:sym typeface="Courier New"/>
              </a:rPr>
              <a:t>super</a:t>
            </a: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should always be used</a:t>
            </a:r>
            <a:endParaRPr/>
          </a:p>
        </p:txBody>
      </p:sp>
    </p:spTree>
  </p:cSld>
  <p:clrMapOvr>
    <a:masterClrMapping/>
  </p:clrMapOvr>
  <p:transition spd="med">
    <p:wipe dir="r"/>
  </p:transition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9"/>
          <p:cNvSpPr txBox="1"/>
          <p:nvPr>
            <p:ph type="title"/>
          </p:nvPr>
        </p:nvSpPr>
        <p:spPr>
          <a:xfrm>
            <a:off x="914400" y="277812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Times New Roman"/>
              <a:buNone/>
            </a:pPr>
            <a:r>
              <a:rPr b="1" i="0" lang="en-US" sz="42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Self Test</a:t>
            </a:r>
            <a:endParaRPr/>
          </a:p>
        </p:txBody>
      </p:sp>
      <p:sp>
        <p:nvSpPr>
          <p:cNvPr id="347" name="Google Shape;347;p29"/>
          <p:cNvSpPr txBox="1"/>
          <p:nvPr>
            <p:ph idx="1" type="body"/>
          </p:nvPr>
        </p:nvSpPr>
        <p:spPr>
          <a:xfrm>
            <a:off x="914400" y="1600200"/>
            <a:ext cx="77724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880"/>
              <a:buFont typeface="Noto Sans Symbols"/>
              <a:buChar char="■"/>
            </a:pPr>
            <a:r>
              <a:rPr b="1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What’s wrong with this program?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</a:pPr>
            <a:r>
              <a:rPr b="1" i="0" lang="en-US" sz="20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public class B extends A {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</a:pPr>
            <a:r>
              <a:rPr b="1" i="0" lang="en-US" sz="20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	public B ( ) {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</a:pPr>
            <a:r>
              <a:rPr b="1" i="0" lang="en-US" sz="20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			int init = 10;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</a:pPr>
            <a:r>
              <a:rPr b="1" i="0" lang="en-US" sz="20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			super(40);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</a:pPr>
            <a:r>
              <a:rPr b="1" i="0" lang="en-US" sz="20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	} 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0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53" name="Google Shape;353;p30"/>
          <p:cNvSpPr txBox="1"/>
          <p:nvPr>
            <p:ph type="title"/>
          </p:nvPr>
        </p:nvSpPr>
        <p:spPr>
          <a:xfrm>
            <a:off x="609600" y="0"/>
            <a:ext cx="8839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Font typeface="Times New Roman"/>
              <a:buNone/>
            </a:pPr>
            <a:r>
              <a:rPr b="0" i="0" lang="en-US" sz="3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Constructor Chaining</a:t>
            </a:r>
            <a:endParaRPr/>
          </a:p>
        </p:txBody>
      </p:sp>
      <p:sp>
        <p:nvSpPr>
          <p:cNvPr id="354" name="Google Shape;354;p30"/>
          <p:cNvSpPr txBox="1"/>
          <p:nvPr/>
        </p:nvSpPr>
        <p:spPr>
          <a:xfrm>
            <a:off x="228600" y="1341437"/>
            <a:ext cx="8915400" cy="5416550"/>
          </a:xfrm>
          <a:prstGeom prst="rect">
            <a:avLst/>
          </a:prstGeom>
          <a:solidFill>
            <a:srgbClr val="CCFF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ourier New"/>
              <a:buNone/>
            </a:pPr>
            <a:r>
              <a:rPr b="1" i="0" lang="en-US" sz="1600" u="none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public class </a:t>
            </a:r>
            <a:r>
              <a:rPr b="1" i="0" lang="en-US" sz="1600" u="non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Faculty</a:t>
            </a:r>
            <a:r>
              <a:rPr b="1" i="0" lang="en-US" sz="1600" u="none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 extends </a:t>
            </a:r>
            <a:r>
              <a:rPr b="1" i="0" lang="en-US" sz="1600" u="non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Employee</a:t>
            </a:r>
            <a:r>
              <a:rPr b="1" i="0" lang="en-US" sz="1600" u="none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ourier New"/>
              <a:buNone/>
            </a:pPr>
            <a:r>
              <a:rPr b="1" i="0" lang="en-US" sz="1600" u="none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  public static void main(String[] args) {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ourier New"/>
              <a:buNone/>
            </a:pPr>
            <a:r>
              <a:rPr b="1" i="0" lang="en-US" sz="1600" u="none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    new Faculty();	  }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ourier New"/>
              <a:buNone/>
            </a:pPr>
            <a:r>
              <a:rPr b="1" i="0" lang="en-US" sz="1600" u="none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ourier New"/>
              <a:buNone/>
            </a:pPr>
            <a:r>
              <a:rPr b="1" i="0" lang="en-US" sz="1600" u="none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  public </a:t>
            </a:r>
            <a:r>
              <a:rPr b="1" i="0" lang="en-US" sz="1600" u="none">
                <a:solidFill>
                  <a:srgbClr val="0000CC"/>
                </a:solidFill>
                <a:latin typeface="Courier New"/>
                <a:ea typeface="Courier New"/>
                <a:cs typeface="Courier New"/>
                <a:sym typeface="Courier New"/>
              </a:rPr>
              <a:t>Faculty</a:t>
            </a:r>
            <a:r>
              <a:rPr b="1" i="0" lang="en-US" sz="1600" u="none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() {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ourier New"/>
              <a:buNone/>
            </a:pPr>
            <a:r>
              <a:rPr b="1" i="0" lang="en-US" sz="1600" u="none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    System.out.println("(4) Faculty's no-arg constructor is invoked");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ourier New"/>
              <a:buNone/>
            </a:pPr>
            <a:r>
              <a:rPr b="1" i="0" lang="en-US" sz="1600" u="none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  }	}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ourier New"/>
              <a:buNone/>
            </a:pPr>
            <a:r>
              <a:rPr b="1" i="0" lang="en-US" sz="1600" u="none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 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ourier New"/>
              <a:buNone/>
            </a:pPr>
            <a:r>
              <a:rPr b="1" i="0" lang="en-US" sz="1600" u="none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class </a:t>
            </a:r>
            <a:r>
              <a:rPr b="1" i="0" lang="en-US" sz="1600" u="non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Employee</a:t>
            </a:r>
            <a:r>
              <a:rPr b="1" i="0" lang="en-US" sz="1600" u="none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 extends </a:t>
            </a:r>
            <a:r>
              <a:rPr b="1" i="0" lang="en-US" sz="1600" u="non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Person</a:t>
            </a:r>
            <a:r>
              <a:rPr b="1" i="0" lang="en-US" sz="1600" u="none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ourier New"/>
              <a:buNone/>
            </a:pPr>
            <a:r>
              <a:rPr b="1" i="0" lang="en-US" sz="1600" u="none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  public </a:t>
            </a:r>
            <a:r>
              <a:rPr b="1" i="0" lang="en-US" sz="1600" u="none">
                <a:solidFill>
                  <a:srgbClr val="0000CC"/>
                </a:solidFill>
                <a:latin typeface="Courier New"/>
                <a:ea typeface="Courier New"/>
                <a:cs typeface="Courier New"/>
                <a:sym typeface="Courier New"/>
              </a:rPr>
              <a:t>Employee</a:t>
            </a:r>
            <a:r>
              <a:rPr b="1" i="0" lang="en-US" sz="1600" u="none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() {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ourier New"/>
              <a:buNone/>
            </a:pPr>
            <a:r>
              <a:rPr b="1" i="0" lang="en-US" sz="1600" u="none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    this("(2) Invoke Employee’s overloaded constructor");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ourier New"/>
              <a:buNone/>
            </a:pPr>
            <a:r>
              <a:rPr b="1" i="0" lang="en-US" sz="1600" u="none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    System.out.println("(3) Employee's no-arg constructor is invoked");  }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ourier New"/>
              <a:buNone/>
            </a:pPr>
            <a:r>
              <a:rPr b="1" i="0" lang="en-US" sz="1600" u="none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 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ourier New"/>
              <a:buNone/>
            </a:pPr>
            <a:r>
              <a:rPr b="1" i="0" lang="en-US" sz="1600" u="none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  public </a:t>
            </a:r>
            <a:r>
              <a:rPr b="1" i="0" lang="en-US" sz="1600" u="none">
                <a:solidFill>
                  <a:srgbClr val="0000CC"/>
                </a:solidFill>
                <a:latin typeface="Courier New"/>
                <a:ea typeface="Courier New"/>
                <a:cs typeface="Courier New"/>
                <a:sym typeface="Courier New"/>
              </a:rPr>
              <a:t>Employee(String</a:t>
            </a:r>
            <a:r>
              <a:rPr b="1" i="0" lang="en-US" sz="1600" u="none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 s) {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ourier New"/>
              <a:buNone/>
            </a:pPr>
            <a:r>
              <a:rPr b="1" i="0" lang="en-US" sz="1600" u="none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    System.out.println(s);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ourier New"/>
              <a:buNone/>
            </a:pPr>
            <a:r>
              <a:rPr b="1" i="0" lang="en-US" sz="1600" u="none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  }	}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ourier New"/>
              <a:buNone/>
            </a:pPr>
            <a:r>
              <a:rPr b="1" i="0" lang="en-US" sz="1600" u="none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 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ourier New"/>
              <a:buNone/>
            </a:pPr>
            <a:r>
              <a:rPr b="1" i="0" lang="en-US" sz="1600" u="none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class </a:t>
            </a:r>
            <a:r>
              <a:rPr b="1" i="0" lang="en-US" sz="1600" u="non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Person</a:t>
            </a:r>
            <a:r>
              <a:rPr b="1" i="0" lang="en-US" sz="1600" u="none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ourier New"/>
              <a:buNone/>
            </a:pPr>
            <a:r>
              <a:rPr b="1" i="0" lang="en-US" sz="1600" u="none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  public </a:t>
            </a:r>
            <a:r>
              <a:rPr b="1" i="0" lang="en-US" sz="1600" u="none">
                <a:solidFill>
                  <a:srgbClr val="0000CC"/>
                </a:solidFill>
                <a:latin typeface="Courier New"/>
                <a:ea typeface="Courier New"/>
                <a:cs typeface="Courier New"/>
                <a:sym typeface="Courier New"/>
              </a:rPr>
              <a:t>Person</a:t>
            </a:r>
            <a:r>
              <a:rPr b="1" i="0" lang="en-US" sz="1600" u="none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() {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ourier New"/>
              <a:buNone/>
            </a:pPr>
            <a:r>
              <a:rPr b="1" i="0" lang="en-US" sz="1600" u="none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    System.out.println("(1) Person's no-arg constructor is invoked");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ourier New"/>
              <a:buNone/>
            </a:pPr>
            <a:r>
              <a:rPr b="1" i="0" lang="en-US" sz="1600" u="none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  }	}</a:t>
            </a:r>
            <a:endParaRPr/>
          </a:p>
        </p:txBody>
      </p:sp>
      <p:sp>
        <p:nvSpPr>
          <p:cNvPr id="355" name="Google Shape;355;p30"/>
          <p:cNvSpPr txBox="1"/>
          <p:nvPr/>
        </p:nvSpPr>
        <p:spPr>
          <a:xfrm>
            <a:off x="685800" y="457200"/>
            <a:ext cx="8458200" cy="708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Constructing an instance of a class invokes all the superclasses’ constructors along the inheritance chain. This is called </a:t>
            </a:r>
            <a:r>
              <a:rPr b="1" i="1" lang="en-US" sz="20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constructor chaining</a:t>
            </a:r>
            <a:r>
              <a:rPr b="1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1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61" name="Google Shape;361;p31"/>
          <p:cNvSpPr txBox="1"/>
          <p:nvPr>
            <p:ph type="title"/>
          </p:nvPr>
        </p:nvSpPr>
        <p:spPr>
          <a:xfrm>
            <a:off x="914400" y="277812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Times New Roman"/>
              <a:buNone/>
            </a:pPr>
            <a:r>
              <a:rPr b="1" i="0" lang="en-US" sz="42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keyword </a:t>
            </a:r>
            <a:r>
              <a:rPr b="1" i="0" lang="en-US" sz="4200" u="none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endParaRPr/>
          </a:p>
        </p:txBody>
      </p:sp>
      <p:sp>
        <p:nvSpPr>
          <p:cNvPr id="362" name="Google Shape;362;p31"/>
          <p:cNvSpPr txBox="1"/>
          <p:nvPr>
            <p:ph idx="1" type="body"/>
          </p:nvPr>
        </p:nvSpPr>
        <p:spPr>
          <a:xfrm>
            <a:off x="914400" y="1600200"/>
            <a:ext cx="77724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520"/>
              <a:buFont typeface="Noto Sans Symbols"/>
              <a:buChar char="■"/>
            </a:pP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constructor may invoke an overloaded constructor or its superclass’s constructor.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2520"/>
              <a:buFont typeface="Noto Sans Symbols"/>
              <a:buChar char="■"/>
            </a:pP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keyword </a:t>
            </a:r>
            <a:r>
              <a:rPr b="1" i="0" lang="en-US" sz="2800" u="non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can be used inside a constructor to invoke another constructor of the </a:t>
            </a:r>
            <a:r>
              <a:rPr b="1" i="0" lang="en-US" sz="2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same class </a:t>
            </a: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(overload constructor).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2520"/>
              <a:buFont typeface="Noto Sans Symbols"/>
              <a:buChar char="■"/>
            </a:pP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general, a constructor with </a:t>
            </a:r>
            <a:r>
              <a:rPr b="1" i="0" lang="en-US" sz="2800" u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no or fewer arguments </a:t>
            </a: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 invoke the constructor with more arguments using </a:t>
            </a:r>
            <a:r>
              <a:rPr b="1" i="0" lang="en-US" sz="2400" u="non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this(arg-list)</a:t>
            </a: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2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68" name="Google Shape;368;p32"/>
          <p:cNvSpPr txBox="1"/>
          <p:nvPr>
            <p:ph type="title"/>
          </p:nvPr>
        </p:nvSpPr>
        <p:spPr>
          <a:xfrm>
            <a:off x="914400" y="277812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Times New Roman"/>
              <a:buNone/>
            </a:pPr>
            <a:r>
              <a:rPr b="1" i="0" lang="en-US" sz="42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use of </a:t>
            </a:r>
            <a:r>
              <a:rPr b="1" i="0" lang="en-US" sz="4200" u="none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b="1" i="0" lang="en-US" sz="4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revision</a:t>
            </a:r>
            <a:endParaRPr/>
          </a:p>
        </p:txBody>
      </p:sp>
      <p:sp>
        <p:nvSpPr>
          <p:cNvPr id="369" name="Google Shape;369;p32"/>
          <p:cNvSpPr txBox="1"/>
          <p:nvPr>
            <p:ph idx="1" type="body"/>
          </p:nvPr>
        </p:nvSpPr>
        <p:spPr>
          <a:xfrm>
            <a:off x="914400" y="1600200"/>
            <a:ext cx="80010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3960"/>
              <a:buFont typeface="Noto Sans Symbols"/>
              <a:buChar char="■"/>
            </a:pPr>
            <a:r>
              <a:rPr b="1" i="0" lang="en-US" sz="4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refer to an object attribute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880"/>
              </a:spcBef>
              <a:spcAft>
                <a:spcPts val="0"/>
              </a:spcAft>
              <a:buClr>
                <a:schemeClr val="folHlink"/>
              </a:buClr>
              <a:buSzPts val="3960"/>
              <a:buFont typeface="Noto Sans Symbols"/>
              <a:buChar char="■"/>
            </a:pPr>
            <a:r>
              <a:rPr b="1" i="0" lang="en-US" sz="4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call another constructor in a constructor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3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75" name="Google Shape;375;p33"/>
          <p:cNvSpPr txBox="1"/>
          <p:nvPr>
            <p:ph type="title"/>
          </p:nvPr>
        </p:nvSpPr>
        <p:spPr>
          <a:xfrm>
            <a:off x="838200" y="228600"/>
            <a:ext cx="8001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Font typeface="Times New Roman"/>
              <a:buNone/>
            </a:pPr>
            <a:r>
              <a:rPr b="0" i="0" lang="en-US" sz="3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 on the Impact of a Superclass without no-arg Constructor</a:t>
            </a:r>
            <a:endParaRPr/>
          </a:p>
        </p:txBody>
      </p:sp>
      <p:sp>
        <p:nvSpPr>
          <p:cNvPr id="376" name="Google Shape;376;p33"/>
          <p:cNvSpPr txBox="1"/>
          <p:nvPr/>
        </p:nvSpPr>
        <p:spPr>
          <a:xfrm>
            <a:off x="304800" y="2438400"/>
            <a:ext cx="8610600" cy="2205037"/>
          </a:xfrm>
          <a:prstGeom prst="rect">
            <a:avLst/>
          </a:prstGeom>
          <a:solidFill>
            <a:srgbClr val="CCFF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Courier New"/>
              <a:buNone/>
            </a:pPr>
            <a:r>
              <a:rPr b="1" i="0" lang="en-US" sz="1800" u="none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public class Apple extends Fruit {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Courier New"/>
              <a:buNone/>
            </a:pPr>
            <a:r>
              <a:rPr b="1" i="0" lang="en-US" sz="1800" u="none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Courier New"/>
              <a:buNone/>
            </a:pPr>
            <a:r>
              <a:rPr b="1" i="0" lang="en-US" sz="1800" u="none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 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Courier New"/>
              <a:buNone/>
            </a:pPr>
            <a:r>
              <a:rPr b="1" i="0" lang="en-US" sz="1800" u="none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class Fruit {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Courier New"/>
              <a:buNone/>
            </a:pPr>
            <a:r>
              <a:rPr b="1" i="0" lang="en-US" sz="1800" u="none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  public Fruit(String name) {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Courier New"/>
              <a:buNone/>
            </a:pPr>
            <a:r>
              <a:rPr b="1" i="0" lang="en-US" sz="1800" u="none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    System.out.println("Fruit's constructor is invoked");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Courier New"/>
              <a:buNone/>
            </a:pPr>
            <a:r>
              <a:rPr b="1" i="0" lang="en-US" sz="1800" u="none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Courier New"/>
              <a:buNone/>
            </a:pPr>
            <a:r>
              <a:rPr b="1" i="0" lang="en-US" sz="1800" u="none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  <p:sp>
        <p:nvSpPr>
          <p:cNvPr id="377" name="Google Shape;377;p33"/>
          <p:cNvSpPr txBox="1"/>
          <p:nvPr/>
        </p:nvSpPr>
        <p:spPr>
          <a:xfrm>
            <a:off x="838200" y="1600200"/>
            <a:ext cx="7772400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 out the errors in the program:</a:t>
            </a:r>
            <a:r>
              <a:rPr b="0" i="1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4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838200" y="228600"/>
            <a:ext cx="8001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Font typeface="Times New Roman"/>
              <a:buNone/>
            </a:pPr>
            <a:r>
              <a:rPr b="0" i="0" lang="en-US" sz="3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 on the Impact of a Superclass without no-arg Constructor</a:t>
            </a:r>
            <a:endParaRPr/>
          </a:p>
        </p:txBody>
      </p:sp>
      <p:sp>
        <p:nvSpPr>
          <p:cNvPr id="384" name="Google Shape;384;p34"/>
          <p:cNvSpPr txBox="1"/>
          <p:nvPr/>
        </p:nvSpPr>
        <p:spPr>
          <a:xfrm>
            <a:off x="304800" y="2438400"/>
            <a:ext cx="8610600" cy="2205037"/>
          </a:xfrm>
          <a:prstGeom prst="rect">
            <a:avLst/>
          </a:prstGeom>
          <a:solidFill>
            <a:srgbClr val="CCFF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Courier New"/>
              <a:buNone/>
            </a:pPr>
            <a:r>
              <a:rPr b="1" i="0" lang="en-US" sz="1800" u="none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public class Apple extends Fruit {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Courier New"/>
              <a:buNone/>
            </a:pPr>
            <a:r>
              <a:rPr b="1" i="0" lang="en-US" sz="1800" u="none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Courier New"/>
              <a:buNone/>
            </a:pPr>
            <a:r>
              <a:rPr b="1" i="0" lang="en-US" sz="1800" u="none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 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Courier New"/>
              <a:buNone/>
            </a:pPr>
            <a:r>
              <a:rPr b="1" i="0" lang="en-US" sz="1800" u="none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class Fruit {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Courier New"/>
              <a:buNone/>
            </a:pPr>
            <a:r>
              <a:rPr b="1" i="0" lang="en-US" sz="1800" u="none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  public Fruit(String name) {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Courier New"/>
              <a:buNone/>
            </a:pPr>
            <a:r>
              <a:rPr b="1" i="0" lang="en-US" sz="1800" u="none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    System.out.println("Fruit's constructor is invoked");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Courier New"/>
              <a:buNone/>
            </a:pPr>
            <a:r>
              <a:rPr b="1" i="0" lang="en-US" sz="1800" u="none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Courier New"/>
              <a:buNone/>
            </a:pPr>
            <a:r>
              <a:rPr b="1" i="0" lang="en-US" sz="1800" u="none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  <p:sp>
        <p:nvSpPr>
          <p:cNvPr id="385" name="Google Shape;385;p34"/>
          <p:cNvSpPr txBox="1"/>
          <p:nvPr/>
        </p:nvSpPr>
        <p:spPr>
          <a:xfrm>
            <a:off x="838200" y="1600200"/>
            <a:ext cx="7772400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 out the errors in the program:</a:t>
            </a:r>
            <a:r>
              <a:rPr b="0" i="1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sp>
        <p:nvSpPr>
          <p:cNvPr id="386" name="Google Shape;386;p34"/>
          <p:cNvSpPr txBox="1"/>
          <p:nvPr/>
        </p:nvSpPr>
        <p:spPr>
          <a:xfrm>
            <a:off x="746125" y="4837112"/>
            <a:ext cx="8580437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program cannot be compiled.  Since Apple is subclass of Fruit,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Apple’s default constructor automatically invokes Fruit’s no-arg constructor.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However, Fruit does not have a no-arg constructor because Fruit has an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explicit constructor defined.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35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92" name="Google Shape;392;p35"/>
          <p:cNvSpPr txBox="1"/>
          <p:nvPr>
            <p:ph type="title"/>
          </p:nvPr>
        </p:nvSpPr>
        <p:spPr>
          <a:xfrm>
            <a:off x="838200" y="228600"/>
            <a:ext cx="8001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Font typeface="Times New Roman"/>
              <a:buNone/>
            </a:pPr>
            <a:r>
              <a:rPr b="0" i="0" lang="en-US" sz="3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 on the Impact of a Superclass without no-arg Constructor</a:t>
            </a:r>
            <a:endParaRPr/>
          </a:p>
        </p:txBody>
      </p:sp>
      <p:sp>
        <p:nvSpPr>
          <p:cNvPr id="393" name="Google Shape;393;p35"/>
          <p:cNvSpPr txBox="1"/>
          <p:nvPr/>
        </p:nvSpPr>
        <p:spPr>
          <a:xfrm>
            <a:off x="762000" y="2438400"/>
            <a:ext cx="8153400" cy="3478212"/>
          </a:xfrm>
          <a:prstGeom prst="rect">
            <a:avLst/>
          </a:prstGeom>
          <a:solidFill>
            <a:srgbClr val="CCFF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public class Apple extends Fruit 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i="0" sz="2000" u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i="0" sz="2000" u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class Fruit 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	</a:t>
            </a:r>
            <a:r>
              <a:rPr b="1" i="0" lang="en-US" sz="2000" u="non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public Fruit() {  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	public Fruit(String name) 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System.out.println("Fruit's constructor is invoked");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  <p:sp>
        <p:nvSpPr>
          <p:cNvPr id="394" name="Google Shape;394;p35"/>
          <p:cNvSpPr txBox="1"/>
          <p:nvPr/>
        </p:nvSpPr>
        <p:spPr>
          <a:xfrm>
            <a:off x="838200" y="1600200"/>
            <a:ext cx="7772400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Fixing the problem:</a:t>
            </a:r>
            <a:r>
              <a:rPr b="0" i="1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6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00" name="Google Shape;400;p36"/>
          <p:cNvSpPr txBox="1"/>
          <p:nvPr>
            <p:ph type="title"/>
          </p:nvPr>
        </p:nvSpPr>
        <p:spPr>
          <a:xfrm>
            <a:off x="914400" y="277812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Times New Roman"/>
              <a:buNone/>
            </a:pPr>
            <a:r>
              <a:rPr b="0" i="0" lang="en-US" sz="42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Multiple Inheritance</a:t>
            </a:r>
            <a:endParaRPr/>
          </a:p>
        </p:txBody>
      </p:sp>
      <p:sp>
        <p:nvSpPr>
          <p:cNvPr id="401" name="Google Shape;401;p36"/>
          <p:cNvSpPr txBox="1"/>
          <p:nvPr>
            <p:ph idx="1" type="body"/>
          </p:nvPr>
        </p:nvSpPr>
        <p:spPr>
          <a:xfrm>
            <a:off x="914400" y="1600200"/>
            <a:ext cx="77724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160"/>
              <a:buFont typeface="Noto Sans Symbols"/>
              <a:buChar char="■"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Java’s approach to inheritance is called </a:t>
            </a:r>
            <a:r>
              <a:rPr b="1" i="1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single inheritance</a:t>
            </a: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meaning a derived class can have only one parent.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2160"/>
              <a:buFont typeface="Noto Sans Symbols"/>
              <a:buChar char="■"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Some OO language allow child class to have multiple parents, i.e. </a:t>
            </a:r>
            <a:r>
              <a:rPr b="1" i="1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multiple inheritance</a:t>
            </a: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grpSp>
        <p:nvGrpSpPr>
          <p:cNvPr id="402" name="Google Shape;402;p36"/>
          <p:cNvGrpSpPr/>
          <p:nvPr/>
        </p:nvGrpSpPr>
        <p:grpSpPr>
          <a:xfrm>
            <a:off x="1279525" y="4038600"/>
            <a:ext cx="4908550" cy="1876425"/>
            <a:chOff x="806" y="2712"/>
            <a:chExt cx="3092" cy="1182"/>
          </a:xfrm>
        </p:grpSpPr>
        <p:sp>
          <p:nvSpPr>
            <p:cNvPr id="403" name="Google Shape;403;p36"/>
            <p:cNvSpPr txBox="1"/>
            <p:nvPr/>
          </p:nvSpPr>
          <p:spPr>
            <a:xfrm>
              <a:off x="806" y="2712"/>
              <a:ext cx="1018" cy="294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b="0" i="0" lang="en-US" sz="240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Car</a:t>
              </a:r>
              <a:endParaRPr/>
            </a:p>
          </p:txBody>
        </p:sp>
        <p:sp>
          <p:nvSpPr>
            <p:cNvPr id="404" name="Google Shape;404;p36"/>
            <p:cNvSpPr txBox="1"/>
            <p:nvPr/>
          </p:nvSpPr>
          <p:spPr>
            <a:xfrm>
              <a:off x="2880" y="2736"/>
              <a:ext cx="1018" cy="294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b="0" i="0" lang="en-US" sz="240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Truck</a:t>
              </a:r>
              <a:endParaRPr/>
            </a:p>
          </p:txBody>
        </p:sp>
        <p:sp>
          <p:nvSpPr>
            <p:cNvPr id="405" name="Google Shape;405;p36"/>
            <p:cNvSpPr txBox="1"/>
            <p:nvPr/>
          </p:nvSpPr>
          <p:spPr>
            <a:xfrm>
              <a:off x="1920" y="3600"/>
              <a:ext cx="1296" cy="294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b="0" i="0" lang="en-US" sz="240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PickupTruck</a:t>
              </a:r>
              <a:endParaRPr/>
            </a:p>
          </p:txBody>
        </p:sp>
        <p:sp>
          <p:nvSpPr>
            <p:cNvPr id="406" name="Google Shape;406;p36"/>
            <p:cNvSpPr/>
            <p:nvPr/>
          </p:nvSpPr>
          <p:spPr>
            <a:xfrm>
              <a:off x="1200" y="3024"/>
              <a:ext cx="144" cy="144"/>
            </a:xfrm>
            <a:prstGeom prst="triangle">
              <a:avLst>
                <a:gd fmla="val 50000" name="adj"/>
              </a:avLst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" name="Google Shape;407;p36"/>
            <p:cNvSpPr/>
            <p:nvPr/>
          </p:nvSpPr>
          <p:spPr>
            <a:xfrm>
              <a:off x="3264" y="3024"/>
              <a:ext cx="144" cy="144"/>
            </a:xfrm>
            <a:prstGeom prst="triangle">
              <a:avLst>
                <a:gd fmla="val 50000" name="adj"/>
              </a:avLst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08" name="Google Shape;408;p36"/>
            <p:cNvCxnSpPr/>
            <p:nvPr/>
          </p:nvCxnSpPr>
          <p:spPr>
            <a:xfrm>
              <a:off x="1258" y="3168"/>
              <a:ext cx="0" cy="24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409" name="Google Shape;409;p36"/>
            <p:cNvCxnSpPr/>
            <p:nvPr/>
          </p:nvCxnSpPr>
          <p:spPr>
            <a:xfrm>
              <a:off x="1258" y="3408"/>
              <a:ext cx="2073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410" name="Google Shape;410;p36"/>
            <p:cNvCxnSpPr/>
            <p:nvPr/>
          </p:nvCxnSpPr>
          <p:spPr>
            <a:xfrm rot="10800000">
              <a:off x="3340" y="3168"/>
              <a:ext cx="0" cy="24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411" name="Google Shape;411;p36"/>
            <p:cNvCxnSpPr/>
            <p:nvPr/>
          </p:nvCxnSpPr>
          <p:spPr>
            <a:xfrm>
              <a:off x="2448" y="3408"/>
              <a:ext cx="0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</p:grpSp>
      <p:sp>
        <p:nvSpPr>
          <p:cNvPr id="412" name="Google Shape;412;p36"/>
          <p:cNvSpPr txBox="1"/>
          <p:nvPr/>
        </p:nvSpPr>
        <p:spPr>
          <a:xfrm>
            <a:off x="5994400" y="4937125"/>
            <a:ext cx="2857500" cy="641350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 language not to support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multiple inheritance.</a:t>
            </a:r>
            <a:endParaRPr/>
          </a:p>
        </p:txBody>
      </p:sp>
    </p:spTree>
  </p:cSld>
  <p:clrMapOvr>
    <a:masterClrMapping/>
  </p:clrMapOvr>
  <p:transition spd="med">
    <p:wipe dir="r"/>
  </p:transition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Layers">
  <a:themeElements>
    <a:clrScheme name="Layers 6">
      <a:dk1>
        <a:srgbClr val="000000"/>
      </a:dk1>
      <a:lt1>
        <a:srgbClr val="FFFFE1"/>
      </a:lt1>
      <a:dk2>
        <a:srgbClr val="330033"/>
      </a:dk2>
      <a:lt2>
        <a:srgbClr val="330033"/>
      </a:lt2>
      <a:accent1>
        <a:srgbClr val="CCCC99"/>
      </a:accent1>
      <a:accent2>
        <a:srgbClr val="FF0000"/>
      </a:accent2>
      <a:accent3>
        <a:srgbClr val="FFFFEE"/>
      </a:accent3>
      <a:accent4>
        <a:srgbClr val="000000"/>
      </a:accent4>
      <a:accent5>
        <a:srgbClr val="E2E2CA"/>
      </a:accent5>
      <a:accent6>
        <a:srgbClr val="E70000"/>
      </a:accent6>
      <a:hlink>
        <a:srgbClr val="990033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_Layers">
  <a:themeElements>
    <a:clrScheme name="Layers 6">
      <a:dk1>
        <a:srgbClr val="000000"/>
      </a:dk1>
      <a:lt1>
        <a:srgbClr val="FFFFE1"/>
      </a:lt1>
      <a:dk2>
        <a:srgbClr val="330033"/>
      </a:dk2>
      <a:lt2>
        <a:srgbClr val="330033"/>
      </a:lt2>
      <a:accent1>
        <a:srgbClr val="CCCC99"/>
      </a:accent1>
      <a:accent2>
        <a:srgbClr val="FF0000"/>
      </a:accent2>
      <a:accent3>
        <a:srgbClr val="FFFFEE"/>
      </a:accent3>
      <a:accent4>
        <a:srgbClr val="000000"/>
      </a:accent4>
      <a:accent5>
        <a:srgbClr val="E2E2CA"/>
      </a:accent5>
      <a:accent6>
        <a:srgbClr val="E70000"/>
      </a:accent6>
      <a:hlink>
        <a:srgbClr val="990033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2006-06-28T03:40:23Z</dcterms:created>
  <dc:creator>Norazah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